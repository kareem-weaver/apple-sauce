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4630400" cy="8229600"/>
  <p:notesSz cx="8229600" cy="14630400"/>
  <p:embeddedFontLst>
    <p:embeddedFont>
      <p:font typeface="Crimson Pro Semi Bold" panose="020B0604020202020204" charset="0"/>
      <p:regular r:id="rId13"/>
    </p:embeddedFont>
    <p:embeddedFont>
      <p:font typeface="Heebo" pitchFamily="2" charset="-79"/>
      <p:regular r:id="rId14"/>
      <p:bold r:id="rId1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6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3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59722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1 master"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0F0F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8.png"/><Relationship Id="rId9" Type="http://schemas.openxmlformats.org/officeDocument/2006/relationships/image" Target="../media/image15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6" Type="http://schemas.openxmlformats.org/officeDocument/2006/relationships/hyperlink" Target="https://drive.google.com/file/d/1TsRFYg0AvQfjuoILzW9tcdyVkeHtdqvy/view?usp=drive_link" TargetMode="External"/><Relationship Id="rId5" Type="http://schemas.openxmlformats.org/officeDocument/2006/relationships/image" Target="../media/image31.svg"/><Relationship Id="rId4" Type="http://schemas.openxmlformats.org/officeDocument/2006/relationships/image" Target="../media/image30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sv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37.svg"/><Relationship Id="rId5" Type="http://schemas.openxmlformats.org/officeDocument/2006/relationships/image" Target="../media/image36.svg"/><Relationship Id="rId4" Type="http://schemas.openxmlformats.org/officeDocument/2006/relationships/image" Target="../media/image35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41.svg"/><Relationship Id="rId4" Type="http://schemas.openxmlformats.org/officeDocument/2006/relationships/image" Target="../media/image4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280190" y="740688"/>
            <a:ext cx="7556421" cy="9782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7700"/>
              </a:lnSpc>
              <a:buNone/>
            </a:pPr>
            <a:r>
              <a:rPr lang="en-US" sz="6150" dirty="0">
                <a:solidFill>
                  <a:srgbClr val="5E4CE6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ShelbyFirst</a:t>
            </a:r>
            <a:endParaRPr lang="en-US" sz="6150" dirty="0"/>
          </a:p>
        </p:txBody>
      </p:sp>
      <p:sp>
        <p:nvSpPr>
          <p:cNvPr id="4" name="Text 1"/>
          <p:cNvSpPr/>
          <p:nvPr/>
        </p:nvSpPr>
        <p:spPr>
          <a:xfrm>
            <a:off x="6280190" y="2059067"/>
            <a:ext cx="7556421" cy="1700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50"/>
              </a:lnSpc>
              <a:buNone/>
            </a:pPr>
            <a:r>
              <a:rPr lang="en-US" sz="35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Advancing Inclusive Growth in Low-IGS Shelby County Through Health Access, Nutrition, and Affordable Mobility</a:t>
            </a:r>
            <a:endParaRPr lang="en-US" sz="3550" dirty="0"/>
          </a:p>
        </p:txBody>
      </p:sp>
      <p:sp>
        <p:nvSpPr>
          <p:cNvPr id="5" name="Text 2"/>
          <p:cNvSpPr/>
          <p:nvPr/>
        </p:nvSpPr>
        <p:spPr>
          <a:xfrm>
            <a:off x="6280190" y="4100155"/>
            <a:ext cx="7556421" cy="10887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Community Analyzed: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Shelby County / Memphis Low-Growth Recovery Cluster</a:t>
            </a:r>
            <a:endParaRPr lang="en-US" sz="1750" dirty="0"/>
          </a:p>
          <a:p>
            <a:pPr marL="0" indent="0" algn="l">
              <a:lnSpc>
                <a:spcPts val="2850"/>
              </a:lnSpc>
              <a:buNone/>
            </a:pPr>
            <a:r>
              <a:rPr lang="en-US" sz="17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Challenge Topic:</a:t>
            </a: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Inclusive Growth / Community Health Access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6280190" y="5557361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96</a:t>
            </a:r>
            <a:endParaRPr lang="en-US" sz="5850" dirty="0"/>
          </a:p>
        </p:txBody>
      </p:sp>
      <p:sp>
        <p:nvSpPr>
          <p:cNvPr id="7" name="Text 4"/>
          <p:cNvSpPr/>
          <p:nvPr/>
        </p:nvSpPr>
        <p:spPr>
          <a:xfrm>
            <a:off x="6280190" y="6589157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Low-IGS Tracts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8893493" y="5557361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273K</a:t>
            </a:r>
            <a:endParaRPr lang="en-US" sz="5850" dirty="0"/>
          </a:p>
        </p:txBody>
      </p:sp>
      <p:sp>
        <p:nvSpPr>
          <p:cNvPr id="9" name="Text 6"/>
          <p:cNvSpPr/>
          <p:nvPr/>
        </p:nvSpPr>
        <p:spPr>
          <a:xfrm>
            <a:off x="8893493" y="6589157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Population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1506795" y="5557361"/>
            <a:ext cx="2329815" cy="74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850"/>
              </a:lnSpc>
              <a:buNone/>
            </a:pPr>
            <a:r>
              <a:rPr lang="en-US" sz="58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35.8</a:t>
            </a:r>
            <a:endParaRPr lang="en-US" sz="5850" dirty="0"/>
          </a:p>
        </p:txBody>
      </p:sp>
      <p:sp>
        <p:nvSpPr>
          <p:cNvPr id="11" name="Text 8"/>
          <p:cNvSpPr/>
          <p:nvPr/>
        </p:nvSpPr>
        <p:spPr>
          <a:xfrm>
            <a:off x="11506795" y="6589157"/>
            <a:ext cx="232981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Avg IGS Score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6280190" y="7198638"/>
            <a:ext cx="75564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840242" y="997268"/>
            <a:ext cx="6949916" cy="7087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550"/>
              </a:lnSpc>
              <a:buNone/>
            </a:pPr>
            <a:r>
              <a:rPr lang="en-US" sz="44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Data-driven selection process</a:t>
            </a:r>
            <a:endParaRPr lang="en-US" sz="4450" dirty="0"/>
          </a:p>
        </p:txBody>
      </p:sp>
      <p:sp>
        <p:nvSpPr>
          <p:cNvPr id="3" name="Text 1"/>
          <p:cNvSpPr/>
          <p:nvPr/>
        </p:nvSpPr>
        <p:spPr>
          <a:xfrm>
            <a:off x="3182183" y="1796772"/>
            <a:ext cx="8265914" cy="56697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450"/>
              </a:lnSpc>
              <a:buNone/>
            </a:pPr>
            <a:r>
              <a:rPr lang="en-US" sz="35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Why this community, and why this problem</a:t>
            </a:r>
            <a:endParaRPr lang="en-US" sz="35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790" y="2703909"/>
            <a:ext cx="4347567" cy="90725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020604" y="3837980"/>
            <a:ext cx="283523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Economic Vulnerability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020604" y="4328398"/>
            <a:ext cx="3893939" cy="2131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IGS Economy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poverty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unemployment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median household income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labor-force participation</a:t>
            </a:r>
            <a:endParaRPr lang="en-US" sz="175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41357" y="2703909"/>
            <a:ext cx="4347567" cy="9072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68171" y="3837980"/>
            <a:ext cx="3893939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Compared communities across three periods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5368171" y="4682728"/>
            <a:ext cx="3893939" cy="12472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pre-COVID: 2017-2019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COVID: 2020-2021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recovery: 2022-2024</a:t>
            </a:r>
            <a:endParaRPr lang="en-US" sz="17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8924" y="2703909"/>
            <a:ext cx="4347567" cy="90725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15738" y="3837980"/>
            <a:ext cx="3489365" cy="354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Scored communities based on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9715738" y="4328398"/>
            <a:ext cx="3893939" cy="16894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low recovery-period IGS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economic vulnerability in recovery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COVID shock</a:t>
            </a:r>
            <a:endParaRPr lang="en-US" sz="1750" dirty="0"/>
          </a:p>
          <a:p>
            <a:pPr marL="342900" indent="-342900" algn="l">
              <a:lnSpc>
                <a:spcPts val="2850"/>
              </a:lnSpc>
              <a:buSzPct val="100000"/>
              <a:buChar char="•"/>
            </a:pPr>
            <a:r>
              <a:rPr lang="en-US" sz="17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weak recovery</a:t>
            </a:r>
            <a:endParaRPr lang="en-US" sz="1750" dirty="0"/>
          </a:p>
        </p:txBody>
      </p:sp>
      <p:sp>
        <p:nvSpPr>
          <p:cNvPr id="13" name="Text 8"/>
          <p:cNvSpPr/>
          <p:nvPr/>
        </p:nvSpPr>
        <p:spPr>
          <a:xfrm>
            <a:off x="793790" y="6942058"/>
            <a:ext cx="13042821" cy="2902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250"/>
              </a:lnSpc>
              <a:buNone/>
            </a:pPr>
            <a:r>
              <a:rPr lang="en-US" sz="14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16178" y="615077"/>
            <a:ext cx="3397925" cy="42469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6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Community Overview</a:t>
            </a:r>
            <a:endParaRPr lang="en-US" sz="2650" dirty="0"/>
          </a:p>
        </p:txBody>
      </p:sp>
      <p:sp>
        <p:nvSpPr>
          <p:cNvPr id="3" name="Text 1"/>
          <p:cNvSpPr/>
          <p:nvPr/>
        </p:nvSpPr>
        <p:spPr>
          <a:xfrm>
            <a:off x="4539139" y="1072277"/>
            <a:ext cx="5552123" cy="3396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650"/>
              </a:lnSpc>
              <a:buNone/>
            </a:pPr>
            <a:r>
              <a:rPr lang="en-US" sz="21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 large, clearly vulnerable Shelby recovery cluster</a:t>
            </a:r>
            <a:endParaRPr lang="en-US" sz="2100" dirty="0"/>
          </a:p>
        </p:txBody>
      </p:sp>
      <p:grpSp>
        <p:nvGrpSpPr>
          <p:cNvPr id="66" name="Group 65">
            <a:extLst>
              <a:ext uri="{FF2B5EF4-FFF2-40B4-BE49-F238E27FC236}">
                <a16:creationId xmlns:a16="http://schemas.microsoft.com/office/drawing/2014/main" id="{ED4B4785-AE1B-AB95-A0B2-CB9A1CDB5D08}"/>
              </a:ext>
            </a:extLst>
          </p:cNvPr>
          <p:cNvGrpSpPr/>
          <p:nvPr/>
        </p:nvGrpSpPr>
        <p:grpSpPr>
          <a:xfrm>
            <a:off x="693742" y="1754525"/>
            <a:ext cx="4823064" cy="231362"/>
            <a:chOff x="731758" y="1625679"/>
            <a:chExt cx="5692616" cy="224195"/>
          </a:xfrm>
        </p:grpSpPr>
        <p:sp>
          <p:nvSpPr>
            <p:cNvPr id="4" name="Shape 2"/>
            <p:cNvSpPr/>
            <p:nvPr/>
          </p:nvSpPr>
          <p:spPr>
            <a:xfrm>
              <a:off x="731758" y="1625679"/>
              <a:ext cx="1707356" cy="224195"/>
            </a:xfrm>
            <a:prstGeom prst="roundRect">
              <a:avLst>
                <a:gd name="adj" fmla="val 79940"/>
              </a:avLst>
            </a:prstGeom>
            <a:solidFill>
              <a:srgbClr val="FFFFFF">
                <a:alpha val="20000"/>
              </a:srgbClr>
            </a:solidFill>
            <a:ln w="762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3315" y="1673781"/>
              <a:ext cx="127992" cy="127992"/>
            </a:xfrm>
            <a:prstGeom prst="rect">
              <a:avLst/>
            </a:prstGeom>
          </p:spPr>
        </p:pic>
        <p:sp>
          <p:nvSpPr>
            <p:cNvPr id="6" name="Text 3"/>
            <p:cNvSpPr/>
            <p:nvPr/>
          </p:nvSpPr>
          <p:spPr>
            <a:xfrm>
              <a:off x="973931" y="1654612"/>
              <a:ext cx="1393627" cy="16633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4C4C4D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Our Shelby Community</a:t>
              </a:r>
              <a:endParaRPr lang="en-US" sz="1000" dirty="0"/>
            </a:p>
          </p:txBody>
        </p:sp>
        <p:sp>
          <p:nvSpPr>
            <p:cNvPr id="7" name="Shape 4"/>
            <p:cNvSpPr/>
            <p:nvPr/>
          </p:nvSpPr>
          <p:spPr>
            <a:xfrm>
              <a:off x="2500074" y="1625679"/>
              <a:ext cx="1617226" cy="224195"/>
            </a:xfrm>
            <a:prstGeom prst="roundRect">
              <a:avLst>
                <a:gd name="adj" fmla="val 79940"/>
              </a:avLst>
            </a:prstGeom>
            <a:solidFill>
              <a:srgbClr val="FFFFFF">
                <a:alpha val="20000"/>
              </a:srgbClr>
            </a:solidFill>
            <a:ln w="762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8" name="Image 1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71631" y="1673781"/>
              <a:ext cx="127992" cy="127992"/>
            </a:xfrm>
            <a:prstGeom prst="rect">
              <a:avLst/>
            </a:prstGeom>
          </p:spPr>
        </p:pic>
        <p:sp>
          <p:nvSpPr>
            <p:cNvPr id="9" name="Text 5"/>
            <p:cNvSpPr/>
            <p:nvPr/>
          </p:nvSpPr>
          <p:spPr>
            <a:xfrm>
              <a:off x="2742247" y="1654612"/>
              <a:ext cx="1303496" cy="16633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4C4C4D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Rest of Shelby County</a:t>
              </a:r>
              <a:endParaRPr lang="en-US" sz="1000" dirty="0"/>
            </a:p>
          </p:txBody>
        </p:sp>
        <p:sp>
          <p:nvSpPr>
            <p:cNvPr id="10" name="Shape 6"/>
            <p:cNvSpPr/>
            <p:nvPr/>
          </p:nvSpPr>
          <p:spPr>
            <a:xfrm>
              <a:off x="4178260" y="1625679"/>
              <a:ext cx="2246114" cy="224195"/>
            </a:xfrm>
            <a:prstGeom prst="roundRect">
              <a:avLst>
                <a:gd name="adj" fmla="val 79940"/>
              </a:avLst>
            </a:prstGeom>
            <a:solidFill>
              <a:srgbClr val="FFFFFF">
                <a:alpha val="20000"/>
              </a:srgbClr>
            </a:solidFill>
            <a:ln w="7620">
              <a:solidFill>
                <a:srgbClr val="000000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Image 2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49817" y="1673781"/>
              <a:ext cx="127992" cy="127992"/>
            </a:xfrm>
            <a:prstGeom prst="rect">
              <a:avLst/>
            </a:prstGeom>
          </p:spPr>
        </p:pic>
        <p:sp>
          <p:nvSpPr>
            <p:cNvPr id="12" name="Text 7"/>
            <p:cNvSpPr/>
            <p:nvPr/>
          </p:nvSpPr>
          <p:spPr>
            <a:xfrm>
              <a:off x="4420433" y="1654612"/>
              <a:ext cx="1932384" cy="166330"/>
            </a:xfrm>
            <a:prstGeom prst="rect">
              <a:avLst/>
            </a:prstGeom>
            <a:noFill/>
            <a:ln/>
          </p:spPr>
          <p:txBody>
            <a:bodyPr wrap="none" lIns="0" tIns="0" rIns="0" bIns="0" rtlCol="0" anchor="t"/>
            <a:lstStyle/>
            <a:p>
              <a:pPr marL="0" indent="0" algn="l">
                <a:lnSpc>
                  <a:spcPts val="1300"/>
                </a:lnSpc>
                <a:buNone/>
              </a:pPr>
              <a:r>
                <a:rPr lang="en-US" sz="1000" dirty="0">
                  <a:solidFill>
                    <a:srgbClr val="4C4C4D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High-Growth Shelby Community</a:t>
              </a:r>
              <a:endParaRPr lang="en-US" sz="1000" dirty="0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97B601EC-DDAD-BDBD-5FEB-8AC4ECE5CFC3}"/>
              </a:ext>
            </a:extLst>
          </p:cNvPr>
          <p:cNvGrpSpPr/>
          <p:nvPr/>
        </p:nvGrpSpPr>
        <p:grpSpPr>
          <a:xfrm>
            <a:off x="733468" y="2175878"/>
            <a:ext cx="6010232" cy="5214966"/>
            <a:chOff x="731758" y="1956554"/>
            <a:chExt cx="6499979" cy="4879777"/>
          </a:xfrm>
        </p:grpSpPr>
        <p:pic>
          <p:nvPicPr>
            <p:cNvPr id="13" name="Image 3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31758" y="1956554"/>
              <a:ext cx="6499979" cy="4879777"/>
            </a:xfrm>
            <a:prstGeom prst="rect">
              <a:avLst/>
            </a:prstGeom>
          </p:spPr>
        </p:pic>
        <p:sp>
          <p:nvSpPr>
            <p:cNvPr id="14" name="Text 8"/>
            <p:cNvSpPr/>
            <p:nvPr/>
          </p:nvSpPr>
          <p:spPr>
            <a:xfrm>
              <a:off x="1111829" y="2341962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77</a:t>
              </a:r>
              <a:endParaRPr lang="en-US" sz="900" dirty="0"/>
            </a:p>
          </p:txBody>
        </p:sp>
        <p:sp>
          <p:nvSpPr>
            <p:cNvPr id="15" name="Text 9"/>
            <p:cNvSpPr/>
            <p:nvPr/>
          </p:nvSpPr>
          <p:spPr>
            <a:xfrm>
              <a:off x="1508227" y="3340657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58</a:t>
              </a:r>
              <a:endParaRPr lang="en-US" sz="900" dirty="0"/>
            </a:p>
          </p:txBody>
        </p:sp>
        <p:sp>
          <p:nvSpPr>
            <p:cNvPr id="16" name="Text 10"/>
            <p:cNvSpPr/>
            <p:nvPr/>
          </p:nvSpPr>
          <p:spPr>
            <a:xfrm>
              <a:off x="1904625" y="5075234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25</a:t>
              </a:r>
              <a:endParaRPr lang="en-US" sz="900" dirty="0"/>
            </a:p>
          </p:txBody>
        </p:sp>
        <p:sp>
          <p:nvSpPr>
            <p:cNvPr id="17" name="Text 11"/>
            <p:cNvSpPr/>
            <p:nvPr/>
          </p:nvSpPr>
          <p:spPr>
            <a:xfrm>
              <a:off x="2661790" y="5548300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16</a:t>
              </a:r>
              <a:endParaRPr lang="en-US" sz="900" dirty="0"/>
            </a:p>
          </p:txBody>
        </p:sp>
        <p:sp>
          <p:nvSpPr>
            <p:cNvPr id="18" name="Text 12"/>
            <p:cNvSpPr/>
            <p:nvPr/>
          </p:nvSpPr>
          <p:spPr>
            <a:xfrm>
              <a:off x="3058188" y="4970108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27</a:t>
              </a:r>
              <a:endParaRPr lang="en-US" sz="900" dirty="0"/>
            </a:p>
          </p:txBody>
        </p:sp>
        <p:sp>
          <p:nvSpPr>
            <p:cNvPr id="19" name="Text 13"/>
            <p:cNvSpPr/>
            <p:nvPr/>
          </p:nvSpPr>
          <p:spPr>
            <a:xfrm>
              <a:off x="3454586" y="3077843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63</a:t>
              </a:r>
              <a:endParaRPr lang="en-US" sz="900" dirty="0"/>
            </a:p>
          </p:txBody>
        </p:sp>
        <p:sp>
          <p:nvSpPr>
            <p:cNvPr id="20" name="Text 14"/>
            <p:cNvSpPr/>
            <p:nvPr/>
          </p:nvSpPr>
          <p:spPr>
            <a:xfrm>
              <a:off x="4245267" y="6097667"/>
              <a:ext cx="112871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1</a:t>
              </a:r>
              <a:endParaRPr lang="en-US" sz="900" dirty="0"/>
            </a:p>
          </p:txBody>
        </p:sp>
        <p:sp>
          <p:nvSpPr>
            <p:cNvPr id="21" name="Text 15"/>
            <p:cNvSpPr/>
            <p:nvPr/>
          </p:nvSpPr>
          <p:spPr>
            <a:xfrm>
              <a:off x="4641666" y="6045105"/>
              <a:ext cx="112871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2</a:t>
              </a:r>
              <a:endParaRPr lang="en-US" sz="900" dirty="0"/>
            </a:p>
          </p:txBody>
        </p:sp>
        <p:sp>
          <p:nvSpPr>
            <p:cNvPr id="22" name="Text 16"/>
            <p:cNvSpPr/>
            <p:nvPr/>
          </p:nvSpPr>
          <p:spPr>
            <a:xfrm>
              <a:off x="5038064" y="6073930"/>
              <a:ext cx="112871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6</a:t>
              </a:r>
              <a:endParaRPr lang="en-US" sz="900" dirty="0"/>
            </a:p>
          </p:txBody>
        </p:sp>
        <p:sp>
          <p:nvSpPr>
            <p:cNvPr id="23" name="Text 17"/>
            <p:cNvSpPr/>
            <p:nvPr/>
          </p:nvSpPr>
          <p:spPr>
            <a:xfrm>
              <a:off x="5795229" y="6021367"/>
              <a:ext cx="112871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7</a:t>
              </a:r>
              <a:endParaRPr lang="en-US" sz="900" dirty="0"/>
            </a:p>
          </p:txBody>
        </p:sp>
        <p:sp>
          <p:nvSpPr>
            <p:cNvPr id="24" name="Text 18"/>
            <p:cNvSpPr/>
            <p:nvPr/>
          </p:nvSpPr>
          <p:spPr>
            <a:xfrm>
              <a:off x="6158111" y="5705989"/>
              <a:ext cx="179903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13</a:t>
              </a:r>
              <a:endParaRPr lang="en-US" sz="900" dirty="0"/>
            </a:p>
          </p:txBody>
        </p:sp>
        <p:sp>
          <p:nvSpPr>
            <p:cNvPr id="25" name="Text 19"/>
            <p:cNvSpPr/>
            <p:nvPr/>
          </p:nvSpPr>
          <p:spPr>
            <a:xfrm>
              <a:off x="6588025" y="6073930"/>
              <a:ext cx="112871" cy="178356"/>
            </a:xfrm>
            <a:prstGeom prst="rect">
              <a:avLst/>
            </a:prstGeom>
            <a:noFill/>
            <a:ln/>
          </p:spPr>
          <p:txBody>
            <a:bodyPr wrap="none" lIns="30480" tIns="30480" rIns="30480" bIns="30480" rtlCol="0" anchor="t"/>
            <a:lstStyle/>
            <a:p>
              <a:pPr marL="0" indent="0" algn="l">
                <a:lnSpc>
                  <a:spcPts val="900"/>
                </a:lnSpc>
                <a:buNone/>
              </a:pPr>
              <a:r>
                <a:rPr lang="en-US" sz="900" dirty="0">
                  <a:solidFill>
                    <a:srgbClr val="000000"/>
                  </a:solidFill>
                  <a:latin typeface="-apple-system, BlinkMacSystemFont, Segoe UI, Roboto, Helvetica Neue, Arial, sans-serif Medium" pitchFamily="34" charset="0"/>
                  <a:ea typeface="-apple-system, BlinkMacSystemFont, Segoe UI, Roboto, Helvetica Neue, Arial, sans-serif Medium" pitchFamily="34" charset="-122"/>
                  <a:cs typeface="-apple-system, BlinkMacSystemFont, Segoe UI, Roboto, Helvetica Neue, Arial, sans-serif Medium" pitchFamily="34" charset="-120"/>
                </a:rPr>
                <a:t>6</a:t>
              </a:r>
              <a:endParaRPr lang="en-US" sz="900" dirty="0"/>
            </a:p>
          </p:txBody>
        </p:sp>
      </p:grpSp>
      <p:sp>
        <p:nvSpPr>
          <p:cNvPr id="27" name="Text 20"/>
          <p:cNvSpPr/>
          <p:nvPr/>
        </p:nvSpPr>
        <p:spPr>
          <a:xfrm>
            <a:off x="9892838" y="5854060"/>
            <a:ext cx="1805821" cy="21228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50"/>
              </a:lnSpc>
              <a:buNone/>
            </a:pPr>
            <a:r>
              <a:rPr lang="en-US" sz="1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Whitehaven ZIPs of Focus</a:t>
            </a:r>
            <a:endParaRPr lang="en-US" sz="1300" dirty="0"/>
          </a:p>
        </p:txBody>
      </p:sp>
      <p:grpSp>
        <p:nvGrpSpPr>
          <p:cNvPr id="68" name="Group 67">
            <a:extLst>
              <a:ext uri="{FF2B5EF4-FFF2-40B4-BE49-F238E27FC236}">
                <a16:creationId xmlns:a16="http://schemas.microsoft.com/office/drawing/2014/main" id="{292B24DA-4D16-4545-F491-6C19A391956E}"/>
              </a:ext>
            </a:extLst>
          </p:cNvPr>
          <p:cNvGrpSpPr/>
          <p:nvPr/>
        </p:nvGrpSpPr>
        <p:grpSpPr>
          <a:xfrm>
            <a:off x="7519686" y="6158600"/>
            <a:ext cx="6492734" cy="1204910"/>
            <a:chOff x="8171855" y="5124807"/>
            <a:chExt cx="5742742" cy="1335881"/>
          </a:xfrm>
        </p:grpSpPr>
        <p:sp>
          <p:nvSpPr>
            <p:cNvPr id="28" name="Shape 21"/>
            <p:cNvSpPr/>
            <p:nvPr/>
          </p:nvSpPr>
          <p:spPr>
            <a:xfrm>
              <a:off x="8171855" y="5124807"/>
              <a:ext cx="5742742" cy="1335881"/>
            </a:xfrm>
            <a:prstGeom prst="roundRect">
              <a:avLst>
                <a:gd name="adj" fmla="val 1526"/>
              </a:avLst>
            </a:prstGeom>
            <a:noFill/>
            <a:ln w="7620">
              <a:solidFill>
                <a:srgbClr val="000000">
                  <a:alpha val="8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grpSp>
          <p:nvGrpSpPr>
            <p:cNvPr id="67" name="Group 66">
              <a:extLst>
                <a:ext uri="{FF2B5EF4-FFF2-40B4-BE49-F238E27FC236}">
                  <a16:creationId xmlns:a16="http://schemas.microsoft.com/office/drawing/2014/main" id="{C110388D-D6C4-F0C5-0D60-7D8DE487E249}"/>
                </a:ext>
              </a:extLst>
            </p:cNvPr>
            <p:cNvGrpSpPr/>
            <p:nvPr/>
          </p:nvGrpSpPr>
          <p:grpSpPr>
            <a:xfrm>
              <a:off x="8480703" y="5200630"/>
              <a:ext cx="5125045" cy="1070252"/>
              <a:chOff x="8179475" y="5132427"/>
              <a:chExt cx="5726907" cy="1320640"/>
            </a:xfrm>
          </p:grpSpPr>
          <p:sp>
            <p:nvSpPr>
              <p:cNvPr id="29" name="Shape 22"/>
              <p:cNvSpPr/>
              <p:nvPr/>
            </p:nvSpPr>
            <p:spPr>
              <a:xfrm>
                <a:off x="8179475" y="5132427"/>
                <a:ext cx="5726906" cy="330160"/>
              </a:xfrm>
              <a:prstGeom prst="rect">
                <a:avLst/>
              </a:prstGeom>
              <a:solidFill>
                <a:srgbClr val="FFFFFF">
                  <a:alpha val="4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0" name="Text 23"/>
              <p:cNvSpPr/>
              <p:nvPr/>
            </p:nvSpPr>
            <p:spPr>
              <a:xfrm>
                <a:off x="8316159" y="5188862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b="1" dirty="0">
                    <a:solidFill>
                      <a:srgbClr val="4C4C4D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ZIP</a:t>
                </a:r>
                <a:endParaRPr lang="en-US" sz="1300" dirty="0"/>
              </a:p>
            </p:txBody>
          </p:sp>
          <p:sp>
            <p:nvSpPr>
              <p:cNvPr id="31" name="Text 24"/>
              <p:cNvSpPr/>
              <p:nvPr/>
            </p:nvSpPr>
            <p:spPr>
              <a:xfrm>
                <a:off x="10228660" y="5188862"/>
                <a:ext cx="162937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b="1" dirty="0">
                    <a:solidFill>
                      <a:srgbClr val="4C4C4D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Population</a:t>
                </a:r>
                <a:endParaRPr lang="en-US" sz="1300" dirty="0"/>
              </a:p>
            </p:txBody>
          </p:sp>
          <p:sp>
            <p:nvSpPr>
              <p:cNvPr id="32" name="Text 25"/>
              <p:cNvSpPr/>
              <p:nvPr/>
            </p:nvSpPr>
            <p:spPr>
              <a:xfrm>
                <a:off x="12137351" y="5188862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b="1" dirty="0">
                    <a:solidFill>
                      <a:srgbClr val="4C4C4D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Area</a:t>
                </a:r>
                <a:endParaRPr lang="en-US" sz="1300" dirty="0"/>
              </a:p>
            </p:txBody>
          </p:sp>
          <p:sp>
            <p:nvSpPr>
              <p:cNvPr id="33" name="Shape 26"/>
              <p:cNvSpPr/>
              <p:nvPr/>
            </p:nvSpPr>
            <p:spPr>
              <a:xfrm>
                <a:off x="8179475" y="5462587"/>
                <a:ext cx="5726906" cy="330160"/>
              </a:xfrm>
              <a:prstGeom prst="rect">
                <a:avLst/>
              </a:prstGeom>
              <a:solidFill>
                <a:srgbClr val="000000">
                  <a:alpha val="4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4" name="Shape 27"/>
              <p:cNvSpPr/>
              <p:nvPr/>
            </p:nvSpPr>
            <p:spPr>
              <a:xfrm>
                <a:off x="8180309" y="5462587"/>
                <a:ext cx="1908691" cy="330160"/>
              </a:xfrm>
              <a:prstGeom prst="rect">
                <a:avLst/>
              </a:prstGeom>
              <a:solidFill>
                <a:srgbClr val="FAA1A1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5" name="Text 28"/>
              <p:cNvSpPr/>
              <p:nvPr/>
            </p:nvSpPr>
            <p:spPr>
              <a:xfrm>
                <a:off x="8316159" y="5519022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38109</a:t>
                </a:r>
                <a:endParaRPr lang="en-US" sz="1300" dirty="0"/>
              </a:p>
            </p:txBody>
          </p:sp>
          <p:sp>
            <p:nvSpPr>
              <p:cNvPr id="36" name="Shape 29"/>
              <p:cNvSpPr/>
              <p:nvPr/>
            </p:nvSpPr>
            <p:spPr>
              <a:xfrm>
                <a:off x="10089000" y="5462587"/>
                <a:ext cx="1908691" cy="330160"/>
              </a:xfrm>
              <a:prstGeom prst="rect">
                <a:avLst/>
              </a:prstGeom>
              <a:solidFill>
                <a:srgbClr val="FAA1A1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7" name="Text 30"/>
              <p:cNvSpPr/>
              <p:nvPr/>
            </p:nvSpPr>
            <p:spPr>
              <a:xfrm>
                <a:off x="10228660" y="5519022"/>
                <a:ext cx="162937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~50K</a:t>
                </a:r>
                <a:endParaRPr lang="en-US" sz="1300" dirty="0"/>
              </a:p>
            </p:txBody>
          </p:sp>
          <p:sp>
            <p:nvSpPr>
              <p:cNvPr id="38" name="Shape 31"/>
              <p:cNvSpPr/>
              <p:nvPr/>
            </p:nvSpPr>
            <p:spPr>
              <a:xfrm>
                <a:off x="11997691" y="5462587"/>
                <a:ext cx="1908691" cy="330160"/>
              </a:xfrm>
              <a:prstGeom prst="rect">
                <a:avLst/>
              </a:prstGeom>
              <a:solidFill>
                <a:srgbClr val="FAA1A1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9" name="Text 32"/>
              <p:cNvSpPr/>
              <p:nvPr/>
            </p:nvSpPr>
            <p:spPr>
              <a:xfrm>
                <a:off x="12137351" y="5519022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62 sq mi</a:t>
                </a:r>
                <a:endParaRPr lang="en-US" sz="1300" dirty="0"/>
              </a:p>
            </p:txBody>
          </p:sp>
          <p:sp>
            <p:nvSpPr>
              <p:cNvPr id="40" name="Shape 33"/>
              <p:cNvSpPr/>
              <p:nvPr/>
            </p:nvSpPr>
            <p:spPr>
              <a:xfrm>
                <a:off x="8179475" y="5792747"/>
                <a:ext cx="5726906" cy="330160"/>
              </a:xfrm>
              <a:prstGeom prst="rect">
                <a:avLst/>
              </a:prstGeom>
              <a:solidFill>
                <a:srgbClr val="FFFFFF">
                  <a:alpha val="4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Shape 34"/>
              <p:cNvSpPr/>
              <p:nvPr/>
            </p:nvSpPr>
            <p:spPr>
              <a:xfrm>
                <a:off x="8180309" y="5792747"/>
                <a:ext cx="1908691" cy="330160"/>
              </a:xfrm>
              <a:prstGeom prst="rect">
                <a:avLst/>
              </a:prstGeom>
              <a:solidFill>
                <a:srgbClr val="FAA1A1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2" name="Text 35"/>
              <p:cNvSpPr/>
              <p:nvPr/>
            </p:nvSpPr>
            <p:spPr>
              <a:xfrm>
                <a:off x="8316159" y="5849183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38116</a:t>
                </a:r>
                <a:endParaRPr lang="en-US" sz="1300" dirty="0"/>
              </a:p>
            </p:txBody>
          </p:sp>
          <p:sp>
            <p:nvSpPr>
              <p:cNvPr id="43" name="Shape 36"/>
              <p:cNvSpPr/>
              <p:nvPr/>
            </p:nvSpPr>
            <p:spPr>
              <a:xfrm>
                <a:off x="10089000" y="5792747"/>
                <a:ext cx="1908691" cy="330160"/>
              </a:xfrm>
              <a:prstGeom prst="rect">
                <a:avLst/>
              </a:prstGeom>
              <a:solidFill>
                <a:srgbClr val="FAA1A1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4" name="Text 37"/>
              <p:cNvSpPr/>
              <p:nvPr/>
            </p:nvSpPr>
            <p:spPr>
              <a:xfrm>
                <a:off x="10228660" y="5849183"/>
                <a:ext cx="162937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~40K</a:t>
                </a:r>
                <a:endParaRPr lang="en-US" sz="1300" dirty="0"/>
              </a:p>
            </p:txBody>
          </p:sp>
          <p:sp>
            <p:nvSpPr>
              <p:cNvPr id="45" name="Shape 38"/>
              <p:cNvSpPr/>
              <p:nvPr/>
            </p:nvSpPr>
            <p:spPr>
              <a:xfrm>
                <a:off x="11997691" y="5792747"/>
                <a:ext cx="1908691" cy="330160"/>
              </a:xfrm>
              <a:prstGeom prst="rect">
                <a:avLst/>
              </a:prstGeom>
              <a:solidFill>
                <a:srgbClr val="FAA1A1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 39"/>
              <p:cNvSpPr/>
              <p:nvPr/>
            </p:nvSpPr>
            <p:spPr>
              <a:xfrm>
                <a:off x="12137351" y="5849183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12 sq mi</a:t>
                </a:r>
                <a:endParaRPr lang="en-US" sz="1300" dirty="0"/>
              </a:p>
            </p:txBody>
          </p:sp>
          <p:sp>
            <p:nvSpPr>
              <p:cNvPr id="47" name="Shape 40"/>
              <p:cNvSpPr/>
              <p:nvPr/>
            </p:nvSpPr>
            <p:spPr>
              <a:xfrm>
                <a:off x="8179475" y="6122907"/>
                <a:ext cx="5726906" cy="330160"/>
              </a:xfrm>
              <a:prstGeom prst="rect">
                <a:avLst/>
              </a:prstGeom>
              <a:solidFill>
                <a:srgbClr val="000000">
                  <a:alpha val="4000"/>
                </a:srgbClr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8" name="Shape 41"/>
              <p:cNvSpPr/>
              <p:nvPr/>
            </p:nvSpPr>
            <p:spPr>
              <a:xfrm>
                <a:off x="8180309" y="6122907"/>
                <a:ext cx="1908691" cy="330160"/>
              </a:xfrm>
              <a:prstGeom prst="rect">
                <a:avLst/>
              </a:prstGeom>
              <a:solidFill>
                <a:srgbClr val="AEE4BD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9" name="Text 42"/>
              <p:cNvSpPr/>
              <p:nvPr/>
            </p:nvSpPr>
            <p:spPr>
              <a:xfrm>
                <a:off x="8316159" y="6179343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38117</a:t>
                </a:r>
                <a:endParaRPr lang="en-US" sz="1300" dirty="0"/>
              </a:p>
            </p:txBody>
          </p:sp>
          <p:sp>
            <p:nvSpPr>
              <p:cNvPr id="50" name="Shape 43"/>
              <p:cNvSpPr/>
              <p:nvPr/>
            </p:nvSpPr>
            <p:spPr>
              <a:xfrm>
                <a:off x="10089000" y="6122907"/>
                <a:ext cx="1908691" cy="330160"/>
              </a:xfrm>
              <a:prstGeom prst="rect">
                <a:avLst/>
              </a:prstGeom>
              <a:solidFill>
                <a:srgbClr val="AEE4BD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1" name="Text 44"/>
              <p:cNvSpPr/>
              <p:nvPr/>
            </p:nvSpPr>
            <p:spPr>
              <a:xfrm>
                <a:off x="10228660" y="6179343"/>
                <a:ext cx="162937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~26K</a:t>
                </a:r>
                <a:endParaRPr lang="en-US" sz="1300" dirty="0"/>
              </a:p>
            </p:txBody>
          </p:sp>
          <p:sp>
            <p:nvSpPr>
              <p:cNvPr id="52" name="Shape 45"/>
              <p:cNvSpPr/>
              <p:nvPr/>
            </p:nvSpPr>
            <p:spPr>
              <a:xfrm>
                <a:off x="11997691" y="6122907"/>
                <a:ext cx="1908691" cy="330160"/>
              </a:xfrm>
              <a:prstGeom prst="rect">
                <a:avLst/>
              </a:prstGeom>
              <a:solidFill>
                <a:srgbClr val="AEE4BD"/>
              </a:solidFill>
              <a:ln/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53" name="Text 46"/>
              <p:cNvSpPr/>
              <p:nvPr/>
            </p:nvSpPr>
            <p:spPr>
              <a:xfrm>
                <a:off x="12137351" y="6179343"/>
                <a:ext cx="1633180" cy="217289"/>
              </a:xfrm>
              <a:prstGeom prst="rect">
                <a:avLst/>
              </a:prstGeom>
              <a:noFill/>
              <a:ln/>
            </p:spPr>
            <p:txBody>
              <a:bodyPr wrap="none" lIns="0" tIns="0" rIns="0" bIns="0" rtlCol="0" anchor="t"/>
              <a:lstStyle/>
              <a:p>
                <a:pPr marL="0" indent="0" algn="l">
                  <a:lnSpc>
                    <a:spcPts val="1700"/>
                  </a:lnSpc>
                  <a:buNone/>
                </a:pPr>
                <a:r>
                  <a:rPr lang="en-US" sz="1300" dirty="0">
                    <a:solidFill>
                      <a:srgbClr val="272525"/>
                    </a:solidFill>
                    <a:latin typeface="Heebo" pitchFamily="34" charset="0"/>
                    <a:ea typeface="Heebo" pitchFamily="34" charset="-122"/>
                    <a:cs typeface="Heebo" pitchFamily="34" charset="-120"/>
                  </a:rPr>
                  <a:t>9 sq mi</a:t>
                </a:r>
                <a:endParaRPr lang="en-US" sz="1300" dirty="0"/>
              </a:p>
            </p:txBody>
          </p:sp>
        </p:grpSp>
      </p:grpSp>
      <p:sp>
        <p:nvSpPr>
          <p:cNvPr id="57" name="Text 49"/>
          <p:cNvSpPr/>
          <p:nvPr/>
        </p:nvSpPr>
        <p:spPr>
          <a:xfrm>
            <a:off x="731698" y="7979582"/>
            <a:ext cx="13166884" cy="1390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050"/>
              </a:lnSpc>
              <a:buNone/>
            </a:pPr>
            <a:r>
              <a:rPr lang="en-US" sz="85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850" dirty="0"/>
          </a:p>
        </p:txBody>
      </p:sp>
      <p:pic>
        <p:nvPicPr>
          <p:cNvPr id="70" name="Picture 69">
            <a:extLst>
              <a:ext uri="{FF2B5EF4-FFF2-40B4-BE49-F238E27FC236}">
                <a16:creationId xmlns:a16="http://schemas.microsoft.com/office/drawing/2014/main" id="{78AD2143-231A-F349-DD82-E9A882A387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4028" y="1737840"/>
            <a:ext cx="6243442" cy="38626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88744" y="694611"/>
            <a:ext cx="425291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50"/>
              </a:lnSpc>
              <a:buNone/>
            </a:pPr>
            <a:r>
              <a:rPr lang="en-US" sz="3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Benchmarking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2429351" y="1287166"/>
            <a:ext cx="10154364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6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This community underperforms county, state, and national benchmarks</a:t>
            </a:r>
            <a:endParaRPr lang="en-US" sz="2650" dirty="0"/>
          </a:p>
        </p:txBody>
      </p:sp>
      <p:sp>
        <p:nvSpPr>
          <p:cNvPr id="4" name="Text 2"/>
          <p:cNvSpPr/>
          <p:nvPr/>
        </p:nvSpPr>
        <p:spPr>
          <a:xfrm>
            <a:off x="793790" y="1753433"/>
            <a:ext cx="11287006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                                                Economic Gaps                                                                                                                    Median Income 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93790" y="2407087"/>
            <a:ext cx="1232773" cy="224195"/>
          </a:xfrm>
          <a:prstGeom prst="roundRect">
            <a:avLst>
              <a:gd name="adj" fmla="val 7994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346" y="2455188"/>
            <a:ext cx="127992" cy="1279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35963" y="2436019"/>
            <a:ext cx="919043" cy="166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Low-IGS Shelby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2087523" y="2407087"/>
            <a:ext cx="1513165" cy="224195"/>
          </a:xfrm>
          <a:prstGeom prst="roundRect">
            <a:avLst>
              <a:gd name="adj" fmla="val 7994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9079" y="2455188"/>
            <a:ext cx="127992" cy="12799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29696" y="2436019"/>
            <a:ext cx="1199436" cy="166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High-Growth Shelby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3661648" y="2407087"/>
            <a:ext cx="944999" cy="224195"/>
          </a:xfrm>
          <a:prstGeom prst="roundRect">
            <a:avLst>
              <a:gd name="adj" fmla="val 7994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33205" y="2455188"/>
            <a:ext cx="127992" cy="12799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903821" y="2436019"/>
            <a:ext cx="631269" cy="166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Tennessee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4667607" y="2407087"/>
            <a:ext cx="543401" cy="224195"/>
          </a:xfrm>
          <a:prstGeom prst="roundRect">
            <a:avLst>
              <a:gd name="adj" fmla="val 7994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9164" y="2455188"/>
            <a:ext cx="127992" cy="12799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09780" y="2436019"/>
            <a:ext cx="229672" cy="1663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0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U.S.</a:t>
            </a:r>
            <a:endParaRPr lang="en-US" sz="1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3790" y="2737961"/>
            <a:ext cx="7027188" cy="3394591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1299842" y="4330398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35.8</a:t>
            </a:r>
            <a:endParaRPr lang="en-US" sz="900" dirty="0"/>
          </a:p>
        </p:txBody>
      </p:sp>
      <p:sp>
        <p:nvSpPr>
          <p:cNvPr id="19" name="Text 12"/>
          <p:cNvSpPr/>
          <p:nvPr/>
        </p:nvSpPr>
        <p:spPr>
          <a:xfrm>
            <a:off x="1625652" y="3549678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55.7</a:t>
            </a:r>
            <a:endParaRPr lang="en-US" sz="900" dirty="0"/>
          </a:p>
        </p:txBody>
      </p:sp>
      <p:sp>
        <p:nvSpPr>
          <p:cNvPr id="20" name="Text 13"/>
          <p:cNvSpPr/>
          <p:nvPr/>
        </p:nvSpPr>
        <p:spPr>
          <a:xfrm>
            <a:off x="1951462" y="3796841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49.4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2277272" y="3730146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51.1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2980052" y="4557944"/>
            <a:ext cx="117396" cy="1341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30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3275382" y="5224332"/>
            <a:ext cx="178356" cy="211336"/>
          </a:xfrm>
          <a:prstGeom prst="rect">
            <a:avLst/>
          </a:prstGeom>
          <a:noFill/>
          <a:ln/>
        </p:spPr>
        <p:txBody>
          <a:bodyPr wrap="none" lIns="30480" tIns="30480" rIns="30480" bIns="3048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5.5</a:t>
            </a:r>
            <a:endParaRPr lang="en-US" sz="900" dirty="0"/>
          </a:p>
        </p:txBody>
      </p:sp>
      <p:sp>
        <p:nvSpPr>
          <p:cNvPr id="24" name="Text 17"/>
          <p:cNvSpPr/>
          <p:nvPr/>
        </p:nvSpPr>
        <p:spPr>
          <a:xfrm>
            <a:off x="3631672" y="5185657"/>
            <a:ext cx="117396" cy="13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14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3957482" y="5224889"/>
            <a:ext cx="117396" cy="13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13</a:t>
            </a:r>
            <a:endParaRPr lang="en-US" sz="900" dirty="0"/>
          </a:p>
        </p:txBody>
      </p:sp>
      <p:sp>
        <p:nvSpPr>
          <p:cNvPr id="26" name="Text 19"/>
          <p:cNvSpPr/>
          <p:nvPr/>
        </p:nvSpPr>
        <p:spPr>
          <a:xfrm>
            <a:off x="4660262" y="5271968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11.8</a:t>
            </a:r>
            <a:endParaRPr lang="en-US" sz="900" dirty="0"/>
          </a:p>
        </p:txBody>
      </p:sp>
      <p:sp>
        <p:nvSpPr>
          <p:cNvPr id="27" name="Text 20"/>
          <p:cNvSpPr/>
          <p:nvPr/>
        </p:nvSpPr>
        <p:spPr>
          <a:xfrm>
            <a:off x="4955592" y="5299939"/>
            <a:ext cx="178356" cy="211336"/>
          </a:xfrm>
          <a:prstGeom prst="rect">
            <a:avLst/>
          </a:prstGeom>
          <a:noFill/>
          <a:ln/>
        </p:spPr>
        <p:txBody>
          <a:bodyPr wrap="none" lIns="30480" tIns="30480" rIns="30480" bIns="3048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3.5</a:t>
            </a:r>
            <a:endParaRPr lang="en-US" sz="900" dirty="0"/>
          </a:p>
        </p:txBody>
      </p:sp>
      <p:sp>
        <p:nvSpPr>
          <p:cNvPr id="28" name="Text 21"/>
          <p:cNvSpPr/>
          <p:nvPr/>
        </p:nvSpPr>
        <p:spPr>
          <a:xfrm>
            <a:off x="5311882" y="5471568"/>
            <a:ext cx="117396" cy="671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</a:t>
            </a:r>
            <a:endParaRPr lang="en-US" sz="900" dirty="0"/>
          </a:p>
        </p:txBody>
      </p:sp>
      <p:sp>
        <p:nvSpPr>
          <p:cNvPr id="29" name="Text 22"/>
          <p:cNvSpPr/>
          <p:nvPr/>
        </p:nvSpPr>
        <p:spPr>
          <a:xfrm>
            <a:off x="5607212" y="5220635"/>
            <a:ext cx="178356" cy="211336"/>
          </a:xfrm>
          <a:prstGeom prst="rect">
            <a:avLst/>
          </a:prstGeom>
          <a:noFill/>
          <a:ln/>
        </p:spPr>
        <p:txBody>
          <a:bodyPr wrap="none" lIns="30480" tIns="30480" rIns="30480" bIns="3048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5.4</a:t>
            </a:r>
            <a:endParaRPr lang="en-US" sz="900" dirty="0"/>
          </a:p>
        </p:txBody>
      </p:sp>
      <p:sp>
        <p:nvSpPr>
          <p:cNvPr id="30" name="Text 23"/>
          <p:cNvSpPr/>
          <p:nvPr/>
        </p:nvSpPr>
        <p:spPr>
          <a:xfrm>
            <a:off x="6340472" y="3451598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58.2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6666282" y="3110279"/>
            <a:ext cx="117396" cy="23276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66.9</a:t>
            </a:r>
            <a:endParaRPr lang="en-US" sz="900" dirty="0"/>
          </a:p>
        </p:txBody>
      </p:sp>
      <p:sp>
        <p:nvSpPr>
          <p:cNvPr id="32" name="Text 25"/>
          <p:cNvSpPr/>
          <p:nvPr/>
        </p:nvSpPr>
        <p:spPr>
          <a:xfrm>
            <a:off x="6992092" y="3380980"/>
            <a:ext cx="117396" cy="13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60</a:t>
            </a:r>
            <a:endParaRPr lang="en-US" sz="900" dirty="0"/>
          </a:p>
        </p:txBody>
      </p:sp>
      <p:sp>
        <p:nvSpPr>
          <p:cNvPr id="33" name="Text 26"/>
          <p:cNvSpPr/>
          <p:nvPr/>
        </p:nvSpPr>
        <p:spPr>
          <a:xfrm>
            <a:off x="7317902" y="3263284"/>
            <a:ext cx="117396" cy="1341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9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63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8370451" y="2407087"/>
            <a:ext cx="885825" cy="164544"/>
          </a:xfrm>
          <a:prstGeom prst="roundRect">
            <a:avLst>
              <a:gd name="adj" fmla="val 7780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23791" y="2443639"/>
            <a:ext cx="91440" cy="9144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8545711" y="2429947"/>
            <a:ext cx="657225" cy="118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Low-IGS Shelby</a:t>
            </a:r>
            <a:endParaRPr lang="en-US" sz="700" dirty="0"/>
          </a:p>
        </p:txBody>
      </p:sp>
      <p:sp>
        <p:nvSpPr>
          <p:cNvPr id="37" name="Shape 29"/>
          <p:cNvSpPr/>
          <p:nvPr/>
        </p:nvSpPr>
        <p:spPr>
          <a:xfrm>
            <a:off x="9317236" y="2407087"/>
            <a:ext cx="916662" cy="164544"/>
          </a:xfrm>
          <a:prstGeom prst="roundRect">
            <a:avLst>
              <a:gd name="adj" fmla="val 7780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70576" y="2443639"/>
            <a:ext cx="91440" cy="91440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9492496" y="2429947"/>
            <a:ext cx="688062" cy="118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High-IGS Shelby</a:t>
            </a:r>
            <a:endParaRPr lang="en-US" sz="700" dirty="0"/>
          </a:p>
        </p:txBody>
      </p:sp>
      <p:sp>
        <p:nvSpPr>
          <p:cNvPr id="40" name="Shape 31"/>
          <p:cNvSpPr/>
          <p:nvPr/>
        </p:nvSpPr>
        <p:spPr>
          <a:xfrm>
            <a:off x="10294858" y="2407087"/>
            <a:ext cx="679966" cy="164544"/>
          </a:xfrm>
          <a:prstGeom prst="roundRect">
            <a:avLst>
              <a:gd name="adj" fmla="val 7780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348198" y="2443639"/>
            <a:ext cx="91440" cy="91440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10470118" y="2429947"/>
            <a:ext cx="451366" cy="118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Tennessee</a:t>
            </a:r>
            <a:endParaRPr lang="en-US" sz="700" dirty="0"/>
          </a:p>
        </p:txBody>
      </p:sp>
      <p:sp>
        <p:nvSpPr>
          <p:cNvPr id="43" name="Shape 33"/>
          <p:cNvSpPr/>
          <p:nvPr/>
        </p:nvSpPr>
        <p:spPr>
          <a:xfrm>
            <a:off x="11035784" y="2407087"/>
            <a:ext cx="392906" cy="164544"/>
          </a:xfrm>
          <a:prstGeom prst="roundRect">
            <a:avLst>
              <a:gd name="adj" fmla="val 77800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4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89124" y="2443639"/>
            <a:ext cx="91440" cy="9144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11211044" y="2429947"/>
            <a:ext cx="164306" cy="11882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900"/>
              </a:lnSpc>
              <a:buNone/>
            </a:pPr>
            <a:r>
              <a:rPr lang="en-US" sz="70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U.S.</a:t>
            </a:r>
            <a:endParaRPr lang="en-US" sz="700" dirty="0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70451" y="2647831"/>
            <a:ext cx="5440799" cy="3703320"/>
          </a:xfrm>
          <a:prstGeom prst="rect">
            <a:avLst/>
          </a:prstGeom>
        </p:spPr>
      </p:pic>
      <p:sp>
        <p:nvSpPr>
          <p:cNvPr id="47" name="Text 35"/>
          <p:cNvSpPr/>
          <p:nvPr/>
        </p:nvSpPr>
        <p:spPr>
          <a:xfrm>
            <a:off x="9449336" y="4950156"/>
            <a:ext cx="256818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ctr">
              <a:lnSpc>
                <a:spcPts val="65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43.4k</a:t>
            </a:r>
            <a:endParaRPr lang="en-US" sz="650" dirty="0"/>
          </a:p>
        </p:txBody>
      </p:sp>
      <p:sp>
        <p:nvSpPr>
          <p:cNvPr id="48" name="Text 36"/>
          <p:cNvSpPr/>
          <p:nvPr/>
        </p:nvSpPr>
        <p:spPr>
          <a:xfrm>
            <a:off x="10522625" y="3080286"/>
            <a:ext cx="234315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ctr">
              <a:lnSpc>
                <a:spcPts val="650"/>
              </a:lnSpc>
              <a:buNone/>
            </a:pPr>
            <a:r>
              <a:rPr lang="en-US" sz="6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119k</a:t>
            </a:r>
            <a:endParaRPr lang="en-US" sz="650" dirty="0"/>
          </a:p>
        </p:txBody>
      </p:sp>
      <p:sp>
        <p:nvSpPr>
          <p:cNvPr id="49" name="Text 37"/>
          <p:cNvSpPr/>
          <p:nvPr/>
        </p:nvSpPr>
        <p:spPr>
          <a:xfrm>
            <a:off x="11573411" y="4212317"/>
            <a:ext cx="256818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ctr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73.4k</a:t>
            </a:r>
            <a:endParaRPr lang="en-US" sz="650" dirty="0"/>
          </a:p>
        </p:txBody>
      </p:sp>
      <p:sp>
        <p:nvSpPr>
          <p:cNvPr id="50" name="Text 38"/>
          <p:cNvSpPr/>
          <p:nvPr/>
        </p:nvSpPr>
        <p:spPr>
          <a:xfrm>
            <a:off x="12635448" y="3881149"/>
            <a:ext cx="256818" cy="144780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ctr">
              <a:lnSpc>
                <a:spcPts val="650"/>
              </a:lnSpc>
              <a:buNone/>
            </a:pPr>
            <a:r>
              <a:rPr lang="en-US" sz="650" dirty="0">
                <a:solidFill>
                  <a:srgbClr val="FFFFFF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86.9k</a:t>
            </a:r>
            <a:endParaRPr lang="en-US" sz="650" dirty="0"/>
          </a:p>
        </p:txBody>
      </p:sp>
      <p:sp>
        <p:nvSpPr>
          <p:cNvPr id="51" name="Shape 39"/>
          <p:cNvSpPr/>
          <p:nvPr/>
        </p:nvSpPr>
        <p:spPr>
          <a:xfrm>
            <a:off x="793790" y="6593086"/>
            <a:ext cx="13042821" cy="607933"/>
          </a:xfrm>
          <a:prstGeom prst="roundRect">
            <a:avLst>
              <a:gd name="adj" fmla="val 4198"/>
            </a:avLst>
          </a:prstGeom>
          <a:solidFill>
            <a:srgbClr val="B3C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2" name="Image 10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63811" y="6824424"/>
            <a:ext cx="212646" cy="170021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1346478" y="6763107"/>
            <a:ext cx="12320111" cy="23812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"Low-IGS Shelby is not slightly behind — it is structurally disconnected from the county's higher-growth trajectory."</a:t>
            </a:r>
            <a:endParaRPr lang="en-US" sz="1300" dirty="0"/>
          </a:p>
        </p:txBody>
      </p:sp>
      <p:sp>
        <p:nvSpPr>
          <p:cNvPr id="54" name="Text 41"/>
          <p:cNvSpPr/>
          <p:nvPr/>
        </p:nvSpPr>
        <p:spPr>
          <a:xfrm>
            <a:off x="793790" y="7344489"/>
            <a:ext cx="1304282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558671" y="624364"/>
            <a:ext cx="3513058" cy="439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450"/>
              </a:lnSpc>
              <a:buNone/>
            </a:pPr>
            <a:r>
              <a:rPr lang="en-US" sz="27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Key Findings</a:t>
            </a:r>
            <a:endParaRPr lang="en-US" sz="2750" dirty="0"/>
          </a:p>
        </p:txBody>
      </p:sp>
      <p:sp>
        <p:nvSpPr>
          <p:cNvPr id="3" name="Text 1"/>
          <p:cNvSpPr/>
          <p:nvPr/>
        </p:nvSpPr>
        <p:spPr>
          <a:xfrm>
            <a:off x="2528113" y="1098232"/>
            <a:ext cx="9231511" cy="3513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Economic vulnerability overlaps with worse healthcare access and health strain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56642" y="1658422"/>
            <a:ext cx="6387227" cy="181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Health Outcomes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56642" y="1938218"/>
            <a:ext cx="1059180" cy="194310"/>
          </a:xfrm>
          <a:prstGeom prst="roundRect">
            <a:avLst>
              <a:gd name="adj" fmla="val 79059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9031" y="1980486"/>
            <a:ext cx="109657" cy="10965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5240" y="1964055"/>
            <a:ext cx="788194" cy="142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Low-IGS Shelby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1876782" y="1938218"/>
            <a:ext cx="1272897" cy="194310"/>
          </a:xfrm>
          <a:prstGeom prst="roundRect">
            <a:avLst>
              <a:gd name="adj" fmla="val 79059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39171" y="1980486"/>
            <a:ext cx="109657" cy="10965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85380" y="1964055"/>
            <a:ext cx="1001911" cy="142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Average-IGS Shelby</a:t>
            </a:r>
            <a:endParaRPr lang="en-US" sz="850" dirty="0"/>
          </a:p>
        </p:txBody>
      </p:sp>
      <p:sp>
        <p:nvSpPr>
          <p:cNvPr id="11" name="Shape 7"/>
          <p:cNvSpPr/>
          <p:nvPr/>
        </p:nvSpPr>
        <p:spPr>
          <a:xfrm>
            <a:off x="3210639" y="1938218"/>
            <a:ext cx="1096089" cy="194310"/>
          </a:xfrm>
          <a:prstGeom prst="roundRect">
            <a:avLst>
              <a:gd name="adj" fmla="val 79059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73028" y="1980486"/>
            <a:ext cx="109657" cy="109657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19237" y="1964055"/>
            <a:ext cx="825103" cy="142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High-IGS Shelby</a:t>
            </a:r>
            <a:endParaRPr lang="en-US" sz="85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642" y="2223968"/>
            <a:ext cx="5567362" cy="3497223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48427" y="4489456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15.9</a:t>
            </a:r>
            <a:endParaRPr lang="en-US" sz="750" dirty="0"/>
          </a:p>
        </p:txBody>
      </p:sp>
      <p:sp>
        <p:nvSpPr>
          <p:cNvPr id="16" name="Text 10"/>
          <p:cNvSpPr/>
          <p:nvPr/>
        </p:nvSpPr>
        <p:spPr>
          <a:xfrm>
            <a:off x="1386542" y="4510087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15.5</a:t>
            </a:r>
            <a:endParaRPr lang="en-US" sz="750" dirty="0"/>
          </a:p>
        </p:txBody>
      </p:sp>
      <p:sp>
        <p:nvSpPr>
          <p:cNvPr id="17" name="Text 11"/>
          <p:cNvSpPr/>
          <p:nvPr/>
        </p:nvSpPr>
        <p:spPr>
          <a:xfrm>
            <a:off x="1753412" y="4894572"/>
            <a:ext cx="187643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7.3</a:t>
            </a:r>
            <a:endParaRPr lang="en-US" sz="750" dirty="0"/>
          </a:p>
        </p:txBody>
      </p:sp>
      <p:sp>
        <p:nvSpPr>
          <p:cNvPr id="18" name="Text 12"/>
          <p:cNvSpPr/>
          <p:nvPr/>
        </p:nvSpPr>
        <p:spPr>
          <a:xfrm>
            <a:off x="2370497" y="2629862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55.6</a:t>
            </a:r>
            <a:endParaRPr lang="en-US" sz="750" dirty="0"/>
          </a:p>
        </p:txBody>
      </p:sp>
      <p:sp>
        <p:nvSpPr>
          <p:cNvPr id="19" name="Text 13"/>
          <p:cNvSpPr/>
          <p:nvPr/>
        </p:nvSpPr>
        <p:spPr>
          <a:xfrm>
            <a:off x="2708612" y="3216072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43.1</a:t>
            </a:r>
            <a:endParaRPr lang="en-US" sz="750" dirty="0"/>
          </a:p>
        </p:txBody>
      </p:sp>
      <p:sp>
        <p:nvSpPr>
          <p:cNvPr id="20" name="Text 14"/>
          <p:cNvSpPr/>
          <p:nvPr/>
        </p:nvSpPr>
        <p:spPr>
          <a:xfrm>
            <a:off x="3046728" y="3731739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32.1</a:t>
            </a:r>
            <a:endParaRPr lang="en-US" sz="750" dirty="0"/>
          </a:p>
        </p:txBody>
      </p:sp>
      <p:sp>
        <p:nvSpPr>
          <p:cNvPr id="21" name="Text 15"/>
          <p:cNvSpPr/>
          <p:nvPr/>
        </p:nvSpPr>
        <p:spPr>
          <a:xfrm>
            <a:off x="3692567" y="3117593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45.2</a:t>
            </a:r>
            <a:endParaRPr lang="en-US" sz="750" dirty="0"/>
          </a:p>
        </p:txBody>
      </p:sp>
      <p:sp>
        <p:nvSpPr>
          <p:cNvPr id="22" name="Text 16"/>
          <p:cNvSpPr/>
          <p:nvPr/>
        </p:nvSpPr>
        <p:spPr>
          <a:xfrm>
            <a:off x="4030682" y="3216072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43.1</a:t>
            </a:r>
            <a:endParaRPr lang="en-US" sz="750" dirty="0"/>
          </a:p>
        </p:txBody>
      </p:sp>
      <p:sp>
        <p:nvSpPr>
          <p:cNvPr id="23" name="Text 17"/>
          <p:cNvSpPr/>
          <p:nvPr/>
        </p:nvSpPr>
        <p:spPr>
          <a:xfrm>
            <a:off x="4368798" y="3712984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32.5</a:t>
            </a:r>
            <a:endParaRPr lang="en-US" sz="750" dirty="0"/>
          </a:p>
        </p:txBody>
      </p:sp>
      <p:sp>
        <p:nvSpPr>
          <p:cNvPr id="24" name="Text 18"/>
          <p:cNvSpPr/>
          <p:nvPr/>
        </p:nvSpPr>
        <p:spPr>
          <a:xfrm>
            <a:off x="5014637" y="4224068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21.6</a:t>
            </a:r>
            <a:endParaRPr lang="en-US" sz="750" dirty="0"/>
          </a:p>
        </p:txBody>
      </p:sp>
      <p:sp>
        <p:nvSpPr>
          <p:cNvPr id="25" name="Text 19"/>
          <p:cNvSpPr/>
          <p:nvPr/>
        </p:nvSpPr>
        <p:spPr>
          <a:xfrm>
            <a:off x="5394960" y="4439754"/>
            <a:ext cx="160734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17</a:t>
            </a:r>
            <a:endParaRPr lang="en-US" sz="750" dirty="0"/>
          </a:p>
        </p:txBody>
      </p:sp>
      <p:sp>
        <p:nvSpPr>
          <p:cNvPr id="26" name="Text 20"/>
          <p:cNvSpPr/>
          <p:nvPr/>
        </p:nvSpPr>
        <p:spPr>
          <a:xfrm>
            <a:off x="5690868" y="4707018"/>
            <a:ext cx="245150" cy="161568"/>
          </a:xfrm>
          <a:prstGeom prst="rect">
            <a:avLst/>
          </a:prstGeom>
          <a:noFill/>
          <a:ln/>
        </p:spPr>
        <p:txBody>
          <a:bodyPr wrap="square" lIns="30480" tIns="30480" rIns="30480" bIns="30480" rtlCol="0" anchor="t"/>
          <a:lstStyle/>
          <a:p>
            <a:pPr marL="0" indent="0" algn="l">
              <a:lnSpc>
                <a:spcPts val="750"/>
              </a:lnSpc>
              <a:buNone/>
            </a:pPr>
            <a:r>
              <a:rPr lang="en-US" sz="750" dirty="0">
                <a:solidFill>
                  <a:srgbClr val="000000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11.3</a:t>
            </a:r>
            <a:endParaRPr lang="en-US" sz="750" dirty="0"/>
          </a:p>
        </p:txBody>
      </p:sp>
      <p:sp>
        <p:nvSpPr>
          <p:cNvPr id="27" name="Text 21"/>
          <p:cNvSpPr/>
          <p:nvPr/>
        </p:nvSpPr>
        <p:spPr>
          <a:xfrm>
            <a:off x="7494151" y="1658422"/>
            <a:ext cx="6387227" cy="181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Vehicle Access by zip-code+ </a:t>
            </a:r>
            <a:endParaRPr lang="en-US" sz="1100" dirty="0"/>
          </a:p>
        </p:txBody>
      </p:sp>
      <p:sp>
        <p:nvSpPr>
          <p:cNvPr id="28" name="Shape 22"/>
          <p:cNvSpPr/>
          <p:nvPr/>
        </p:nvSpPr>
        <p:spPr>
          <a:xfrm>
            <a:off x="7494151" y="1938218"/>
            <a:ext cx="1290280" cy="194310"/>
          </a:xfrm>
          <a:prstGeom prst="roundRect">
            <a:avLst>
              <a:gd name="adj" fmla="val 79059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9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40" y="1980486"/>
            <a:ext cx="109657" cy="109657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702748" y="1964055"/>
            <a:ext cx="1019294" cy="142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38109 (Low-growth)</a:t>
            </a:r>
            <a:endParaRPr lang="en-US" sz="850" dirty="0"/>
          </a:p>
        </p:txBody>
      </p:sp>
      <p:sp>
        <p:nvSpPr>
          <p:cNvPr id="31" name="Shape 24"/>
          <p:cNvSpPr/>
          <p:nvPr/>
        </p:nvSpPr>
        <p:spPr>
          <a:xfrm>
            <a:off x="8845391" y="1938218"/>
            <a:ext cx="1290280" cy="194310"/>
          </a:xfrm>
          <a:prstGeom prst="roundRect">
            <a:avLst>
              <a:gd name="adj" fmla="val 79059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07780" y="1980486"/>
            <a:ext cx="109657" cy="109657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9053989" y="1964055"/>
            <a:ext cx="1019294" cy="142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38116 (Low-growth)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10196632" y="1938218"/>
            <a:ext cx="1327309" cy="194310"/>
          </a:xfrm>
          <a:prstGeom prst="roundRect">
            <a:avLst>
              <a:gd name="adj" fmla="val 79059"/>
            </a:avLst>
          </a:prstGeom>
          <a:solidFill>
            <a:srgbClr val="FFFFFF">
              <a:alpha val="20000"/>
            </a:srgbClr>
          </a:solidFill>
          <a:ln w="762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9020" y="1980486"/>
            <a:ext cx="109657" cy="109657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10405229" y="1964055"/>
            <a:ext cx="1056323" cy="1426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dirty="0">
                <a:solidFill>
                  <a:srgbClr val="4C4C4D"/>
                </a:solidFill>
                <a:latin typeface="-apple-system, BlinkMacSystemFont, Segoe UI, Roboto, Helvetica Neue, Arial, sans-serif Medium" pitchFamily="34" charset="0"/>
                <a:ea typeface="-apple-system, BlinkMacSystemFont, Segoe UI, Roboto, Helvetica Neue, Arial, sans-serif Medium" pitchFamily="34" charset="-122"/>
                <a:cs typeface="-apple-system, BlinkMacSystemFont, Segoe UI, Roboto, Helvetica Neue, Arial, sans-serif Medium" pitchFamily="34" charset="-120"/>
              </a:rPr>
              <a:t>38117 (High-growth)</a:t>
            </a:r>
            <a:endParaRPr lang="en-US" sz="85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94151" y="2223968"/>
            <a:ext cx="4903232" cy="334899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756642" y="5864304"/>
            <a:ext cx="6514981" cy="946904"/>
          </a:xfrm>
          <a:prstGeom prst="roundRect">
            <a:avLst>
              <a:gd name="adj" fmla="val 7725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29"/>
          <p:cNvSpPr/>
          <p:nvPr/>
        </p:nvSpPr>
        <p:spPr>
          <a:xfrm>
            <a:off x="741402" y="5864304"/>
            <a:ext cx="60960" cy="946904"/>
          </a:xfrm>
          <a:prstGeom prst="roundRect">
            <a:avLst>
              <a:gd name="adj" fmla="val 34578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0"/>
          <p:cNvSpPr/>
          <p:nvPr/>
        </p:nvSpPr>
        <p:spPr>
          <a:xfrm>
            <a:off x="958096" y="6020038"/>
            <a:ext cx="2834640" cy="219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1. Compounding Health-Access Penalty</a:t>
            </a:r>
            <a:endParaRPr lang="en-US" sz="1350" dirty="0"/>
          </a:p>
        </p:txBody>
      </p:sp>
      <p:sp>
        <p:nvSpPr>
          <p:cNvPr id="41" name="Text 31"/>
          <p:cNvSpPr/>
          <p:nvPr/>
        </p:nvSpPr>
        <p:spPr>
          <a:xfrm>
            <a:off x="958096" y="6291620"/>
            <a:ext cx="6157793" cy="363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Low-IGS tracts face a compounding health-access penalty across insurance, providers, and preventive care.</a:t>
            </a:r>
            <a:endParaRPr lang="en-US" sz="1100" dirty="0"/>
          </a:p>
        </p:txBody>
      </p:sp>
      <p:sp>
        <p:nvSpPr>
          <p:cNvPr id="42" name="Shape 32"/>
          <p:cNvSpPr/>
          <p:nvPr/>
        </p:nvSpPr>
        <p:spPr>
          <a:xfrm>
            <a:off x="7358658" y="5864304"/>
            <a:ext cx="6515100" cy="946904"/>
          </a:xfrm>
          <a:prstGeom prst="roundRect">
            <a:avLst>
              <a:gd name="adj" fmla="val 7725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33"/>
          <p:cNvSpPr/>
          <p:nvPr/>
        </p:nvSpPr>
        <p:spPr>
          <a:xfrm>
            <a:off x="7343418" y="5864304"/>
            <a:ext cx="60960" cy="946904"/>
          </a:xfrm>
          <a:prstGeom prst="roundRect">
            <a:avLst>
              <a:gd name="adj" fmla="val 34578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4" name="Text 34"/>
          <p:cNvSpPr/>
          <p:nvPr/>
        </p:nvSpPr>
        <p:spPr>
          <a:xfrm>
            <a:off x="7560112" y="6020038"/>
            <a:ext cx="1893213" cy="2194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3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2. Transportation Friction</a:t>
            </a:r>
            <a:endParaRPr lang="en-US" sz="1350" dirty="0"/>
          </a:p>
        </p:txBody>
      </p:sp>
      <p:sp>
        <p:nvSpPr>
          <p:cNvPr id="45" name="Text 35"/>
          <p:cNvSpPr/>
          <p:nvPr/>
        </p:nvSpPr>
        <p:spPr>
          <a:xfrm>
            <a:off x="7560112" y="6291620"/>
            <a:ext cx="6157913" cy="181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Transportation friction appears to reduce preventive and dental care completion rates.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756642" y="6909078"/>
            <a:ext cx="13117116" cy="452676"/>
          </a:xfrm>
          <a:prstGeom prst="roundRect">
            <a:avLst>
              <a:gd name="adj" fmla="val 4657"/>
            </a:avLst>
          </a:prstGeom>
          <a:solidFill>
            <a:srgbClr val="B3C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97136" y="7091243"/>
            <a:ext cx="175617" cy="140494"/>
          </a:xfrm>
          <a:prstGeom prst="rect">
            <a:avLst/>
          </a:prstGeom>
        </p:spPr>
      </p:pic>
      <p:sp>
        <p:nvSpPr>
          <p:cNvPr id="48" name="Text 37"/>
          <p:cNvSpPr/>
          <p:nvPr/>
        </p:nvSpPr>
        <p:spPr>
          <a:xfrm>
            <a:off x="1213247" y="7031236"/>
            <a:ext cx="12520017" cy="1819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strongest story:</a:t>
            </a:r>
            <a:r>
              <a:rPr lang="en-US" sz="11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Economic vulnerability + transportation/access friction → lower preventive care + missed appointments → worse chronic disease burden.</a:t>
            </a:r>
            <a:endParaRPr lang="en-US" sz="1100" dirty="0"/>
          </a:p>
        </p:txBody>
      </p:sp>
      <p:sp>
        <p:nvSpPr>
          <p:cNvPr id="49" name="Text 38"/>
          <p:cNvSpPr/>
          <p:nvPr/>
        </p:nvSpPr>
        <p:spPr>
          <a:xfrm>
            <a:off x="756642" y="7459623"/>
            <a:ext cx="13117116" cy="1456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100"/>
              </a:lnSpc>
              <a:buNone/>
            </a:pPr>
            <a:r>
              <a:rPr lang="en-US" sz="85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82421" y="665321"/>
            <a:ext cx="4465558" cy="558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50"/>
              </a:lnSpc>
              <a:buNone/>
            </a:pPr>
            <a:r>
              <a:rPr lang="en-US" sz="35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Implementation Plan</a:t>
            </a:r>
            <a:endParaRPr lang="en-US" sz="3500" dirty="0"/>
          </a:p>
        </p:txBody>
      </p:sp>
      <p:sp>
        <p:nvSpPr>
          <p:cNvPr id="3" name="Text 1"/>
          <p:cNvSpPr/>
          <p:nvPr/>
        </p:nvSpPr>
        <p:spPr>
          <a:xfrm>
            <a:off x="2144487" y="1279684"/>
            <a:ext cx="10794563" cy="4466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500"/>
              </a:lnSpc>
              <a:buNone/>
            </a:pPr>
            <a:r>
              <a:rPr lang="en-US" sz="28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 practical 3-year rollout built on existing Memphis health infrastructure</a:t>
            </a:r>
            <a:endParaRPr lang="en-US" sz="28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407" y="1937266"/>
            <a:ext cx="4355783" cy="71449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60001" y="2792373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Phase 1 — Pilot (Year 1)</a:t>
            </a:r>
            <a:endParaRPr lang="en-US" sz="1750" dirty="0"/>
          </a:p>
        </p:txBody>
      </p:sp>
      <p:sp>
        <p:nvSpPr>
          <p:cNvPr id="6" name="Text 3"/>
          <p:cNvSpPr/>
          <p:nvPr/>
        </p:nvSpPr>
        <p:spPr>
          <a:xfrm>
            <a:off x="960001" y="3155632"/>
            <a:ext cx="3998595" cy="19352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Launch in highest-need South Memphis service area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Start one community garden site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Build referral and ride coordination with ShelbyCares and trusted providers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Enroll founding households and begin subsidized health rides</a:t>
            </a:r>
            <a:endParaRPr lang="en-US" sz="1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7190" y="1937266"/>
            <a:ext cx="4355902" cy="71449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315783" y="2792373"/>
            <a:ext cx="2458760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Phase 2 — Expand (Year 2)</a:t>
            </a:r>
            <a:endParaRPr lang="en-US" sz="1750" dirty="0"/>
          </a:p>
        </p:txBody>
      </p:sp>
      <p:sp>
        <p:nvSpPr>
          <p:cNvPr id="9" name="Text 5"/>
          <p:cNvSpPr/>
          <p:nvPr/>
        </p:nvSpPr>
        <p:spPr>
          <a:xfrm>
            <a:off x="5315783" y="3155632"/>
            <a:ext cx="3998714" cy="1119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Add more ride destinations and health event partners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Expand produce distribution and awareness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Grow membership base and app usage</a:t>
            </a:r>
            <a:endParaRPr lang="en-US" sz="14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93091" y="1937266"/>
            <a:ext cx="4355783" cy="71449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671685" y="2792373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Phase 3 — Scale (Year 3)</a:t>
            </a:r>
            <a:endParaRPr lang="en-US" sz="1750" dirty="0"/>
          </a:p>
        </p:txBody>
      </p:sp>
      <p:sp>
        <p:nvSpPr>
          <p:cNvPr id="12" name="Text 7"/>
          <p:cNvSpPr/>
          <p:nvPr/>
        </p:nvSpPr>
        <p:spPr>
          <a:xfrm>
            <a:off x="9671685" y="3155632"/>
            <a:ext cx="3998595" cy="8645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Expand across more low-IGS tracts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Formalize healthcare referral loops</a:t>
            </a:r>
            <a:endParaRPr lang="en-US" sz="1400" dirty="0"/>
          </a:p>
          <a:p>
            <a:pPr marL="342900" indent="-342900" algn="l">
              <a:lnSpc>
                <a:spcPts val="2000"/>
              </a:lnSpc>
              <a:buSzPct val="100000"/>
              <a:buChar char="•"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Move toward blended nonprofit sustainability</a:t>
            </a:r>
            <a:endParaRPr lang="en-US" sz="1400" dirty="0"/>
          </a:p>
        </p:txBody>
      </p:sp>
      <p:sp>
        <p:nvSpPr>
          <p:cNvPr id="13" name="Text 8"/>
          <p:cNvSpPr/>
          <p:nvPr/>
        </p:nvSpPr>
        <p:spPr>
          <a:xfrm>
            <a:off x="781407" y="5480447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Funding Architecture</a:t>
            </a:r>
            <a:endParaRPr lang="en-US" sz="1750" dirty="0"/>
          </a:p>
        </p:txBody>
      </p:sp>
      <p:sp>
        <p:nvSpPr>
          <p:cNvPr id="14" name="Shape 9"/>
          <p:cNvSpPr/>
          <p:nvPr/>
        </p:nvSpPr>
        <p:spPr>
          <a:xfrm>
            <a:off x="781407" y="5970389"/>
            <a:ext cx="13067586" cy="1231225"/>
          </a:xfrm>
          <a:prstGeom prst="roundRect">
            <a:avLst>
              <a:gd name="adj" fmla="val 21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781407" y="5970389"/>
            <a:ext cx="4355783" cy="1231225"/>
          </a:xfrm>
          <a:prstGeom prst="roundRect">
            <a:avLst>
              <a:gd name="adj" fmla="val 217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1"/>
          <p:cNvSpPr/>
          <p:nvPr/>
        </p:nvSpPr>
        <p:spPr>
          <a:xfrm>
            <a:off x="960001" y="6148983"/>
            <a:ext cx="2232779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Startup &amp; Pilot Grants</a:t>
            </a:r>
            <a:endParaRPr lang="en-US" sz="1750" dirty="0"/>
          </a:p>
        </p:txBody>
      </p:sp>
      <p:sp>
        <p:nvSpPr>
          <p:cNvPr id="17" name="Text 12"/>
          <p:cNvSpPr/>
          <p:nvPr/>
        </p:nvSpPr>
        <p:spPr>
          <a:xfrm>
            <a:off x="960001" y="6512243"/>
            <a:ext cx="3998595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Public-health and foundation grant funding for Year 1 launch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137190" y="5970389"/>
            <a:ext cx="4355902" cy="1231225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5137190" y="5970389"/>
            <a:ext cx="22860" cy="1231225"/>
          </a:xfrm>
          <a:prstGeom prst="roundRect">
            <a:avLst>
              <a:gd name="adj" fmla="val 117209"/>
            </a:avLst>
          </a:prstGeom>
          <a:solidFill>
            <a:srgbClr val="D8D4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5315783" y="6148983"/>
            <a:ext cx="2402800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Institutional Partnerships</a:t>
            </a:r>
            <a:endParaRPr lang="en-US" sz="1750" dirty="0"/>
          </a:p>
        </p:txBody>
      </p:sp>
      <p:sp>
        <p:nvSpPr>
          <p:cNvPr id="21" name="Text 16"/>
          <p:cNvSpPr/>
          <p:nvPr/>
        </p:nvSpPr>
        <p:spPr>
          <a:xfrm>
            <a:off x="5315783" y="6512243"/>
            <a:ext cx="3998714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ShelbyCares, UTHSC-aligned care ecosystem, local government, and public-health stakeholders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9493091" y="5970389"/>
            <a:ext cx="4355783" cy="1231225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9493091" y="5970389"/>
            <a:ext cx="22860" cy="1231225"/>
          </a:xfrm>
          <a:prstGeom prst="roundRect">
            <a:avLst>
              <a:gd name="adj" fmla="val 117209"/>
            </a:avLst>
          </a:prstGeom>
          <a:solidFill>
            <a:srgbClr val="D8D4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4" name="Text 19"/>
          <p:cNvSpPr/>
          <p:nvPr/>
        </p:nvSpPr>
        <p:spPr>
          <a:xfrm>
            <a:off x="9671685" y="6148983"/>
            <a:ext cx="2291358" cy="2789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150"/>
              </a:lnSpc>
              <a:buNone/>
            </a:pPr>
            <a:r>
              <a:rPr lang="en-US" sz="17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Blended Earned Revenue</a:t>
            </a:r>
            <a:endParaRPr lang="en-US" sz="1750" dirty="0"/>
          </a:p>
        </p:txBody>
      </p:sp>
      <p:sp>
        <p:nvSpPr>
          <p:cNvPr id="25" name="Text 20"/>
          <p:cNvSpPr/>
          <p:nvPr/>
        </p:nvSpPr>
        <p:spPr>
          <a:xfrm>
            <a:off x="9671685" y="6512243"/>
            <a:ext cx="3998595" cy="510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000"/>
              </a:lnSpc>
              <a:buNone/>
            </a:pPr>
            <a:r>
              <a:rPr lang="en-US" sz="14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Memberships, subsidized rides, and produce/garden programs</a:t>
            </a:r>
            <a:endParaRPr lang="en-US" sz="1400" dirty="0"/>
          </a:p>
        </p:txBody>
      </p:sp>
      <p:sp>
        <p:nvSpPr>
          <p:cNvPr id="26" name="Text 21"/>
          <p:cNvSpPr/>
          <p:nvPr/>
        </p:nvSpPr>
        <p:spPr>
          <a:xfrm>
            <a:off x="781407" y="7359848"/>
            <a:ext cx="13067586" cy="2043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72232" y="2015490"/>
            <a:ext cx="368593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9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Proposed Solutions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793790" y="2514481"/>
            <a:ext cx="8813483" cy="368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900"/>
              </a:lnSpc>
              <a:buNone/>
            </a:pPr>
            <a:r>
              <a:rPr lang="en-US" sz="2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ShelbyFirst connects mobility, nutrition, and care access in one platform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793790" y="3026807"/>
            <a:ext cx="4283750" cy="1898690"/>
          </a:xfrm>
          <a:prstGeom prst="roundRect">
            <a:avLst>
              <a:gd name="adj" fmla="val 116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941189" y="3174206"/>
            <a:ext cx="442198" cy="442198"/>
          </a:xfrm>
          <a:prstGeom prst="roundRect">
            <a:avLst>
              <a:gd name="adj" fmla="val 20676452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2752" y="3295769"/>
            <a:ext cx="198953" cy="19895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41189" y="371213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Move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41189" y="3999905"/>
            <a:ext cx="3988951" cy="77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Affordable healthcare-focused rides priced below typical rideshare alternatives.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Member:</a:t>
            </a: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$4–$6 one-way / ~$8 round trip in-zone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Non-member:</a:t>
            </a: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$7–$9 one-way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173266" y="3026807"/>
            <a:ext cx="4283750" cy="1898690"/>
          </a:xfrm>
          <a:prstGeom prst="roundRect">
            <a:avLst>
              <a:gd name="adj" fmla="val 116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0" name="Shape 7"/>
          <p:cNvSpPr/>
          <p:nvPr/>
        </p:nvSpPr>
        <p:spPr>
          <a:xfrm>
            <a:off x="5320665" y="3174206"/>
            <a:ext cx="442198" cy="442198"/>
          </a:xfrm>
          <a:prstGeom prst="roundRect">
            <a:avLst>
              <a:gd name="adj" fmla="val 20676452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442228" y="3295769"/>
            <a:ext cx="198953" cy="198953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20665" y="371213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Nourish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5320665" y="3999905"/>
            <a:ext cx="3988951" cy="5836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Community garden in southern Memphis providing healthy food access, physical activity, and community participation.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Optional add-on:</a:t>
            </a: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$10–$15/month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9552742" y="3026807"/>
            <a:ext cx="4283869" cy="1898690"/>
          </a:xfrm>
          <a:prstGeom prst="roundRect">
            <a:avLst>
              <a:gd name="adj" fmla="val 1165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9700141" y="3174206"/>
            <a:ext cx="442198" cy="442198"/>
          </a:xfrm>
          <a:prstGeom prst="roundRect">
            <a:avLst>
              <a:gd name="adj" fmla="val 20676452"/>
            </a:avLst>
          </a:prstGeom>
          <a:solidFill>
            <a:srgbClr val="2150F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21704" y="3295769"/>
            <a:ext cx="198953" cy="198953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700141" y="3712131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Connect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9700141" y="3999905"/>
            <a:ext cx="3989070" cy="7781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App integrating ride access, garden engagement, health events, referrals, and partner services including ShelbyCares.</a:t>
            </a:r>
            <a:endParaRPr lang="en-US" sz="115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Access Membership:</a:t>
            </a: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$9.99/mo | </a:t>
            </a:r>
            <a:r>
              <a:rPr lang="en-US" sz="115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Care Membership:</a:t>
            </a: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$19.99/mo (2 subsidized rides)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793790" y="5119449"/>
            <a:ext cx="2588895" cy="194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endParaRPr lang="en-US" sz="1150" dirty="0"/>
          </a:p>
        </p:txBody>
      </p:sp>
      <p:pic>
        <p:nvPicPr>
          <p:cNvPr id="20" name="Image 3" descr="preencoded.png">
            <a:hlinkClick r:id="rId6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873" y="5141000"/>
            <a:ext cx="6561177" cy="701873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93790" y="6058376"/>
            <a:ext cx="13042821" cy="1557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200"/>
              </a:lnSpc>
              <a:buNone/>
            </a:pPr>
            <a:r>
              <a:rPr lang="en-US" sz="90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9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2" grpId="0" animBg="1"/>
      <p:bldP spid="13" grpId="0" animBg="1"/>
      <p:bldP spid="14" grpId="0" animBg="1"/>
      <p:bldP spid="15" grpId="0" animBg="1"/>
      <p:bldP spid="17" grpId="0" animBg="1"/>
      <p:bldP spid="1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188744" y="747117"/>
            <a:ext cx="4252913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150"/>
              </a:lnSpc>
              <a:buNone/>
            </a:pPr>
            <a:r>
              <a:rPr lang="en-US" sz="3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Predicted Outcomes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2838347" y="1308827"/>
            <a:ext cx="9192101" cy="425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300"/>
              </a:lnSpc>
              <a:buNone/>
            </a:pPr>
            <a:r>
              <a:rPr lang="en-US" sz="26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 realistic 3-year pathway to healthier and more inclusive growth</a:t>
            </a:r>
            <a:endParaRPr lang="en-US" sz="26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737" y="2089784"/>
            <a:ext cx="7192505" cy="459661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72368" y="2073831"/>
            <a:ext cx="2126456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Base-Case Story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8472368" y="2483048"/>
            <a:ext cx="382667" cy="3826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8536126" y="2514898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8982551" y="2541508"/>
            <a:ext cx="2541627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Year 1 — Modest Pilot Effects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8982551" y="2934772"/>
            <a:ext cx="486156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Founding household enrollment, initial ride utilization, garden launch, early referral loops with ShelbyCares.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8472368" y="3666173"/>
            <a:ext cx="382667" cy="3826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8536126" y="3698022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8982551" y="3724632"/>
            <a:ext cx="2732127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Year 2 — Stronger Engagement</a:t>
            </a:r>
            <a:endParaRPr lang="en-US" sz="1650" dirty="0"/>
          </a:p>
        </p:txBody>
      </p:sp>
      <p:sp>
        <p:nvSpPr>
          <p:cNvPr id="13" name="Text 10"/>
          <p:cNvSpPr/>
          <p:nvPr/>
        </p:nvSpPr>
        <p:spPr>
          <a:xfrm>
            <a:off x="8982551" y="4117896"/>
            <a:ext cx="486156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Growing membership, dental screening events, expanded produce distribution, preventive-care campaign uptake.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472368" y="4849297"/>
            <a:ext cx="382667" cy="382667"/>
          </a:xfrm>
          <a:prstGeom prst="roundRect">
            <a:avLst>
              <a:gd name="adj" fmla="val 6669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536126" y="4881146"/>
            <a:ext cx="255151" cy="3189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82551" y="4907756"/>
            <a:ext cx="3171944" cy="265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050"/>
              </a:lnSpc>
              <a:buNone/>
            </a:pPr>
            <a:r>
              <a:rPr lang="en-US" sz="16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Year 3 — Measurable Improvements</a:t>
            </a:r>
            <a:endParaRPr lang="en-US" sz="1650" dirty="0"/>
          </a:p>
        </p:txBody>
      </p:sp>
      <p:sp>
        <p:nvSpPr>
          <p:cNvPr id="17" name="Text 14"/>
          <p:cNvSpPr/>
          <p:nvPr/>
        </p:nvSpPr>
        <p:spPr>
          <a:xfrm>
            <a:off x="8982551" y="5301020"/>
            <a:ext cx="486156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Measurable improvements in utilization and access; directional uplift in Inclusive Growth performance over time.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8472368" y="5920740"/>
            <a:ext cx="5371743" cy="1084183"/>
          </a:xfrm>
          <a:prstGeom prst="roundRect">
            <a:avLst>
              <a:gd name="adj" fmla="val 2354"/>
            </a:avLst>
          </a:prstGeom>
          <a:solidFill>
            <a:srgbClr val="B3C3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2390" y="6152078"/>
            <a:ext cx="212646" cy="170021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9025057" y="6090761"/>
            <a:ext cx="4649033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300" b="1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ShelbyFirst influences IGS indirectly</a:t>
            </a:r>
            <a:r>
              <a:rPr lang="en-US" sz="1300" dirty="0">
                <a:solidFill>
                  <a:srgbClr val="000000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 through better mobility, healthier food access, stronger preventive care participation, and deeper community engagement.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93790" y="7291864"/>
            <a:ext cx="1304282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5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 (ACS).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72232" y="699373"/>
            <a:ext cx="3685937" cy="46077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3600"/>
              </a:lnSpc>
              <a:buNone/>
            </a:pPr>
            <a:r>
              <a:rPr lang="en-US" sz="29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Metrics for Success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3527762" y="1186186"/>
            <a:ext cx="7701082" cy="36861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23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How ShelbyFirst will track impact and accountability over time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793790" y="1710690"/>
            <a:ext cx="3188851" cy="2271236"/>
          </a:xfrm>
          <a:prstGeom prst="roundRect">
            <a:avLst>
              <a:gd name="adj" fmla="val 974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809030" y="1725930"/>
            <a:ext cx="3158371" cy="442198"/>
          </a:xfrm>
          <a:prstGeom prst="roundRect">
            <a:avLst>
              <a:gd name="adj" fmla="val 86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277666" y="1836420"/>
            <a:ext cx="221099" cy="2210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56429" y="2263854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Access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956429" y="2551628"/>
            <a:ext cx="2863572" cy="8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Active members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Rides completed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Average ride cost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% of rides to healthcare destinations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078367" y="1710690"/>
            <a:ext cx="3188970" cy="2271236"/>
          </a:xfrm>
          <a:prstGeom prst="roundRect">
            <a:avLst>
              <a:gd name="adj" fmla="val 974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4093607" y="1725930"/>
            <a:ext cx="3158490" cy="442198"/>
          </a:xfrm>
          <a:prstGeom prst="roundRect">
            <a:avLst>
              <a:gd name="adj" fmla="val 86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62243" y="1836420"/>
            <a:ext cx="221099" cy="22109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241006" y="2263854"/>
            <a:ext cx="184296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Care Utilization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241006" y="2551628"/>
            <a:ext cx="2863691" cy="8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Appointment attendance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Dental/preventive visit completion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Referral-to-appointment conversion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Repeat clinic engagement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363063" y="1710690"/>
            <a:ext cx="3188851" cy="2271236"/>
          </a:xfrm>
          <a:prstGeom prst="roundRect">
            <a:avLst>
              <a:gd name="adj" fmla="val 974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7378303" y="1725930"/>
            <a:ext cx="3158371" cy="442198"/>
          </a:xfrm>
          <a:prstGeom prst="roundRect">
            <a:avLst>
              <a:gd name="adj" fmla="val 86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846939" y="1836420"/>
            <a:ext cx="221099" cy="22109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525703" y="2263854"/>
            <a:ext cx="1848088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Nutrition &amp; Community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7525703" y="2551628"/>
            <a:ext cx="2863572" cy="8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Garden participation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Produce distributed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Class/workshop attendance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Repeat engagement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10647640" y="1710690"/>
            <a:ext cx="3188970" cy="2271236"/>
          </a:xfrm>
          <a:prstGeom prst="roundRect">
            <a:avLst>
              <a:gd name="adj" fmla="val 974"/>
            </a:avLst>
          </a:prstGeom>
          <a:solidFill>
            <a:srgbClr val="FFFFFF"/>
          </a:solidFill>
          <a:ln w="15240">
            <a:solidFill>
              <a:srgbClr val="D8D4D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5"/>
          <p:cNvSpPr/>
          <p:nvPr/>
        </p:nvSpPr>
        <p:spPr>
          <a:xfrm>
            <a:off x="10662880" y="1725930"/>
            <a:ext cx="3158490" cy="442198"/>
          </a:xfrm>
          <a:prstGeom prst="roundRect">
            <a:avLst>
              <a:gd name="adj" fmla="val 866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31516" y="1836420"/>
            <a:ext cx="221099" cy="22109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0810280" y="2263854"/>
            <a:ext cx="2229564" cy="230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45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Inclusive Growth Monitoring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10810280" y="2551628"/>
            <a:ext cx="2863691" cy="12676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Ongoing comparison of target tracts against IGS-linked indicators over time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Transportation access proxies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Preventive care proxies</a:t>
            </a:r>
            <a:endParaRPr lang="en-US" sz="1150" dirty="0"/>
          </a:p>
          <a:p>
            <a:pPr marL="342900" indent="-342900" algn="l">
              <a:lnSpc>
                <a:spcPts val="1500"/>
              </a:lnSpc>
              <a:buSzPct val="100000"/>
              <a:buChar char="•"/>
            </a:pPr>
            <a:r>
              <a:rPr lang="en-US" sz="115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Community-level health access measures</a:t>
            </a:r>
            <a:endParaRPr lang="en-US" sz="1150" dirty="0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63027" y="4089678"/>
            <a:ext cx="8104346" cy="3177064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3457105" y="4245488"/>
            <a:ext cx="1483549" cy="4768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ts val="1850"/>
              </a:lnSpc>
              <a:buNone/>
            </a:pPr>
            <a:r>
              <a:rPr lang="en-US" sz="15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Measure Outcomes</a:t>
            </a:r>
            <a:endParaRPr lang="en-US" sz="1500" dirty="0"/>
          </a:p>
        </p:txBody>
      </p:sp>
      <p:sp>
        <p:nvSpPr>
          <p:cNvPr id="26" name="Text 19"/>
          <p:cNvSpPr/>
          <p:nvPr/>
        </p:nvSpPr>
        <p:spPr>
          <a:xfrm>
            <a:off x="9689599" y="4245488"/>
            <a:ext cx="1483549" cy="23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Learn from Data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9689599" y="6872429"/>
            <a:ext cx="1483549" cy="23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5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Improve Programs</a:t>
            </a:r>
            <a:endParaRPr lang="en-US" sz="1500" dirty="0"/>
          </a:p>
        </p:txBody>
      </p:sp>
      <p:sp>
        <p:nvSpPr>
          <p:cNvPr id="28" name="Text 21"/>
          <p:cNvSpPr/>
          <p:nvPr/>
        </p:nvSpPr>
        <p:spPr>
          <a:xfrm>
            <a:off x="3457105" y="6872429"/>
            <a:ext cx="1483549" cy="23842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ts val="1850"/>
              </a:lnSpc>
              <a:buNone/>
            </a:pPr>
            <a:r>
              <a:rPr lang="en-US" sz="15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Scale What Works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763333" y="801886"/>
            <a:ext cx="5103614" cy="63793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5000"/>
              </a:lnSpc>
              <a:buNone/>
            </a:pPr>
            <a:r>
              <a:rPr lang="en-US" sz="40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Conclusion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93790" y="1513284"/>
            <a:ext cx="13042821" cy="1020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00"/>
              </a:lnSpc>
              <a:buNone/>
            </a:pPr>
            <a:r>
              <a:rPr lang="en-US" sz="3200" dirty="0">
                <a:solidFill>
                  <a:srgbClr val="152D47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ShelbyFirst transforms disconnected resources into a pathway for healthier, more inclusive growth</a:t>
            </a:r>
            <a:endParaRPr lang="en-US" sz="3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93790" y="2809399"/>
            <a:ext cx="510302" cy="51030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33644" y="2809399"/>
            <a:ext cx="3454718" cy="637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Economically Vulnerable &amp; Health-Access Constrained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1533644" y="3557230"/>
            <a:ext cx="3454718" cy="1551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selected Shelby community faces overlapping disadvantage across income, transportation, preventive care, diabetes, obesity, and dental access.</a:t>
            </a:r>
            <a:endParaRPr lang="en-US" sz="16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7914" y="2809399"/>
            <a:ext cx="510302" cy="51030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57768" y="2809399"/>
            <a:ext cx="3454718" cy="6376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Practical, Community-Based Intervention</a:t>
            </a:r>
            <a:endParaRPr lang="en-US" sz="2000" dirty="0"/>
          </a:p>
        </p:txBody>
      </p:sp>
      <p:sp>
        <p:nvSpPr>
          <p:cNvPr id="9" name="Text 5"/>
          <p:cNvSpPr/>
          <p:nvPr/>
        </p:nvSpPr>
        <p:spPr>
          <a:xfrm>
            <a:off x="5957768" y="3557230"/>
            <a:ext cx="3454718" cy="1551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ShelbyFirst coordinates affordable rides, healthy food access, and trusted care connectivity — using existing infrastructure, not building new systems.</a:t>
            </a:r>
            <a:endParaRPr lang="en-US" sz="16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42038" y="2809399"/>
            <a:ext cx="510302" cy="510302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0381893" y="2809399"/>
            <a:ext cx="2962275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Built for Measurable Impact</a:t>
            </a:r>
            <a:endParaRPr lang="en-US" sz="2000" dirty="0"/>
          </a:p>
        </p:txBody>
      </p:sp>
      <p:sp>
        <p:nvSpPr>
          <p:cNvPr id="12" name="Text 7"/>
          <p:cNvSpPr/>
          <p:nvPr/>
        </p:nvSpPr>
        <p:spPr>
          <a:xfrm>
            <a:off x="10381893" y="3238381"/>
            <a:ext cx="3454718" cy="12411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The initiative is built for measurable impact, not just awareness — with clear metrics, phased rollout, and blended nonprofit sustainability.</a:t>
            </a:r>
            <a:endParaRPr lang="en-US" sz="1600" dirty="0"/>
          </a:p>
        </p:txBody>
      </p:sp>
      <p:sp>
        <p:nvSpPr>
          <p:cNvPr id="13" name="Text 8"/>
          <p:cNvSpPr/>
          <p:nvPr/>
        </p:nvSpPr>
        <p:spPr>
          <a:xfrm>
            <a:off x="1099899" y="5522000"/>
            <a:ext cx="12736711" cy="31027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"ShelbyFirst turns mobility, nutrition, and care access into a scalable engine for inclusive growth in Shelby County."</a:t>
            </a:r>
            <a:endParaRPr lang="en-US" sz="1600" dirty="0"/>
          </a:p>
        </p:txBody>
      </p:sp>
      <p:sp>
        <p:nvSpPr>
          <p:cNvPr id="14" name="Shape 9"/>
          <p:cNvSpPr/>
          <p:nvPr/>
        </p:nvSpPr>
        <p:spPr>
          <a:xfrm>
            <a:off x="793790" y="5315307"/>
            <a:ext cx="22860" cy="723662"/>
          </a:xfrm>
          <a:prstGeom prst="rect">
            <a:avLst/>
          </a:prstGeom>
          <a:solidFill>
            <a:srgbClr val="2150F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Shape 10"/>
          <p:cNvSpPr/>
          <p:nvPr/>
        </p:nvSpPr>
        <p:spPr>
          <a:xfrm>
            <a:off x="793790" y="6245662"/>
            <a:ext cx="13042821" cy="726996"/>
          </a:xfrm>
          <a:prstGeom prst="roundRect">
            <a:avLst>
              <a:gd name="adj" fmla="val 421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Shape 11"/>
          <p:cNvSpPr/>
          <p:nvPr/>
        </p:nvSpPr>
        <p:spPr>
          <a:xfrm>
            <a:off x="793790" y="6245662"/>
            <a:ext cx="4347567" cy="726996"/>
          </a:xfrm>
          <a:prstGeom prst="roundRect">
            <a:avLst>
              <a:gd name="adj" fmla="val 4212"/>
            </a:avLst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2"/>
          <p:cNvSpPr/>
          <p:nvPr/>
        </p:nvSpPr>
        <p:spPr>
          <a:xfrm>
            <a:off x="997863" y="6449735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Healthier Residents</a:t>
            </a:r>
            <a:endParaRPr lang="en-US" sz="2000" dirty="0"/>
          </a:p>
        </p:txBody>
      </p:sp>
      <p:sp>
        <p:nvSpPr>
          <p:cNvPr id="18" name="Shape 13"/>
          <p:cNvSpPr/>
          <p:nvPr/>
        </p:nvSpPr>
        <p:spPr>
          <a:xfrm>
            <a:off x="5141357" y="6245662"/>
            <a:ext cx="4347567" cy="726996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Shape 14"/>
          <p:cNvSpPr/>
          <p:nvPr/>
        </p:nvSpPr>
        <p:spPr>
          <a:xfrm>
            <a:off x="5141357" y="6245662"/>
            <a:ext cx="22860" cy="726996"/>
          </a:xfrm>
          <a:prstGeom prst="roundRect">
            <a:avLst>
              <a:gd name="adj" fmla="val 133954"/>
            </a:avLst>
          </a:prstGeom>
          <a:solidFill>
            <a:srgbClr val="D8D4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5345430" y="6449735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Stronger Communities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9488924" y="6245662"/>
            <a:ext cx="4347567" cy="726996"/>
          </a:xfrm>
          <a:prstGeom prst="rect">
            <a:avLst/>
          </a:prstGeom>
          <a:solidFill>
            <a:srgbClr val="F2EEE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Shape 17"/>
          <p:cNvSpPr/>
          <p:nvPr/>
        </p:nvSpPr>
        <p:spPr>
          <a:xfrm>
            <a:off x="9488924" y="6245662"/>
            <a:ext cx="22860" cy="726996"/>
          </a:xfrm>
          <a:prstGeom prst="roundRect">
            <a:avLst>
              <a:gd name="adj" fmla="val 133954"/>
            </a:avLst>
          </a:prstGeom>
          <a:solidFill>
            <a:srgbClr val="D8D4D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18"/>
          <p:cNvSpPr/>
          <p:nvPr/>
        </p:nvSpPr>
        <p:spPr>
          <a:xfrm>
            <a:off x="9692997" y="6449735"/>
            <a:ext cx="2551748" cy="318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500"/>
              </a:lnSpc>
              <a:buNone/>
            </a:pPr>
            <a:r>
              <a:rPr lang="en-US" sz="2000" dirty="0">
                <a:solidFill>
                  <a:srgbClr val="4C4C4D"/>
                </a:solidFill>
                <a:latin typeface="Crimson Pro Semi Bold" pitchFamily="34" charset="0"/>
                <a:ea typeface="Crimson Pro Semi Bold" pitchFamily="34" charset="-122"/>
                <a:cs typeface="Crimson Pro Semi Bold" pitchFamily="34" charset="-120"/>
              </a:rPr>
              <a:t>More Inclusive Growth</a:t>
            </a:r>
            <a:endParaRPr lang="en-US" sz="2000" dirty="0"/>
          </a:p>
        </p:txBody>
      </p:sp>
      <p:sp>
        <p:nvSpPr>
          <p:cNvPr id="24" name="Text 19"/>
          <p:cNvSpPr/>
          <p:nvPr/>
        </p:nvSpPr>
        <p:spPr>
          <a:xfrm>
            <a:off x="793790" y="7179350"/>
            <a:ext cx="13042821" cy="2482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950"/>
              </a:lnSpc>
              <a:buNone/>
            </a:pPr>
            <a:r>
              <a:rPr lang="en-US" sz="1250" i="1" dirty="0">
                <a:solidFill>
                  <a:srgbClr val="4C4C4D"/>
                </a:solidFill>
                <a:latin typeface="Heebo" pitchFamily="34" charset="0"/>
                <a:ea typeface="Heebo" pitchFamily="34" charset="-122"/>
                <a:cs typeface="Heebo" pitchFamily="34" charset="-120"/>
              </a:rPr>
              <a:t>Source: IGS, ACS/Census, healthcare enrichment, uploaded analysis charts.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1044</Words>
  <Application>Microsoft Office PowerPoint</Application>
  <PresentationFormat>Custom</PresentationFormat>
  <Paragraphs>220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Heebo</vt:lpstr>
      <vt:lpstr>Crimson Pro Semi Bold</vt:lpstr>
      <vt:lpstr>Arial</vt:lpstr>
      <vt:lpstr>-apple-system, BlinkMacSystemFont, Segoe UI, Roboto, Helvetica Neue, Arial, sans-serif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Kareem Weaver</dc:creator>
  <cp:lastModifiedBy>Kareem J Weaver</cp:lastModifiedBy>
  <cp:revision>9</cp:revision>
  <dcterms:created xsi:type="dcterms:W3CDTF">2026-04-29T03:30:03Z</dcterms:created>
  <dcterms:modified xsi:type="dcterms:W3CDTF">2026-04-29T23:31:58Z</dcterms:modified>
</cp:coreProperties>
</file>