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rimson Pro Semi Bold" panose="020B0604020202020204" charset="0"/>
      <p:regular r:id="rId13"/>
    </p:embeddedFont>
    <p:embeddedFont>
      <p:font typeface="Heebo" pitchFamily="2" charset="-79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72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8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drive.google.com/file/d/1TsRFYg0AvQfjuoILzW9tcdyVkeHtdqvy/view?usp=drive_link" TargetMode="External"/><Relationship Id="rId5" Type="http://schemas.openxmlformats.org/officeDocument/2006/relationships/image" Target="../media/image32.svg"/><Relationship Id="rId4" Type="http://schemas.openxmlformats.org/officeDocument/2006/relationships/image" Target="../media/image3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8.svg"/><Relationship Id="rId5" Type="http://schemas.openxmlformats.org/officeDocument/2006/relationships/image" Target="../media/image37.svg"/><Relationship Id="rId4" Type="http://schemas.openxmlformats.org/officeDocument/2006/relationships/image" Target="../media/image3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2.svg"/><Relationship Id="rId4" Type="http://schemas.openxmlformats.org/officeDocument/2006/relationships/image" Target="../media/image4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40688"/>
            <a:ext cx="755642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5E4CE6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ShelbyFirst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2059067"/>
            <a:ext cx="7556421" cy="1700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Advancing Inclusive Growth in Low-IGS Shelby County Through Health Access, Nutrition, and Affordable Mobility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6280190" y="4100155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Community Analyzed: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Shelby County / Memphis Low-Growth Recovery Cluster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Challenge Topic: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Inclusive Growth / Community Health Access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557361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96</a:t>
            </a:r>
            <a:endParaRPr lang="en-US" sz="5850" dirty="0"/>
          </a:p>
        </p:txBody>
      </p:sp>
      <p:sp>
        <p:nvSpPr>
          <p:cNvPr id="7" name="Text 4"/>
          <p:cNvSpPr/>
          <p:nvPr/>
        </p:nvSpPr>
        <p:spPr>
          <a:xfrm>
            <a:off x="6280190" y="6589157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Low-IGS Tracts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893493" y="5557361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273K</a:t>
            </a:r>
            <a:endParaRPr lang="en-US" sz="5850" dirty="0"/>
          </a:p>
        </p:txBody>
      </p:sp>
      <p:sp>
        <p:nvSpPr>
          <p:cNvPr id="9" name="Text 6"/>
          <p:cNvSpPr/>
          <p:nvPr/>
        </p:nvSpPr>
        <p:spPr>
          <a:xfrm>
            <a:off x="8893493" y="6589157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Population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1506795" y="5557361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35.8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1506795" y="6589157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Avg IGS Score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280190" y="7198638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Source: IGS, ACS/Census, healthcare enrichment, uploaded analysis charts.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242" y="997268"/>
            <a:ext cx="69499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Data-driven selection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3182183" y="1796772"/>
            <a:ext cx="826591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Why this community, and why this problem</a:t>
            </a:r>
            <a:endParaRPr lang="en-US" sz="3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03909"/>
            <a:ext cx="4347567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38379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Economic Vulnerability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4328398"/>
            <a:ext cx="389393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IGS Economy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poverty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unemployment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median household income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labor-force participation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703909"/>
            <a:ext cx="4347567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8171" y="3837980"/>
            <a:ext cx="389393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Compared communities across three periods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368171" y="4682728"/>
            <a:ext cx="389393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pre-COVID: 2017-2019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COVID: 2020-2021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recovery: 2022-2024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2703909"/>
            <a:ext cx="4347567" cy="9072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5738" y="3837980"/>
            <a:ext cx="34893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Scored communities based on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715738" y="4328398"/>
            <a:ext cx="389393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low recovery-period IGS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economic vulnerability in recovery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COVID shock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weak recovery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793790" y="6942058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Source: IGS, ACS/Census, healthcare enrichment, uploaded analysis charts.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6178" y="615077"/>
            <a:ext cx="3397925" cy="42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Community Overview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539139" y="1072277"/>
            <a:ext cx="5552123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 large, clearly vulnerable Shelby recovery cluster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758" y="1625679"/>
            <a:ext cx="1707356" cy="224195"/>
          </a:xfrm>
          <a:prstGeom prst="roundRect">
            <a:avLst>
              <a:gd name="adj" fmla="val 7994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15" y="1673781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3931" y="1654612"/>
            <a:ext cx="1393627" cy="166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Our Shelby Community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00074" y="1625679"/>
            <a:ext cx="1617226" cy="224195"/>
          </a:xfrm>
          <a:prstGeom prst="roundRect">
            <a:avLst>
              <a:gd name="adj" fmla="val 7994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631" y="1673781"/>
            <a:ext cx="127992" cy="1279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2247" y="1654612"/>
            <a:ext cx="1303496" cy="166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Rest of Shelby County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178260" y="1625679"/>
            <a:ext cx="2246114" cy="224195"/>
          </a:xfrm>
          <a:prstGeom prst="roundRect">
            <a:avLst>
              <a:gd name="adj" fmla="val 7994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9817" y="1673781"/>
            <a:ext cx="127992" cy="1279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20433" y="1654612"/>
            <a:ext cx="1932384" cy="166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High-Growth Shelby Community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758" y="1956554"/>
            <a:ext cx="6499979" cy="487977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11829" y="2341962"/>
            <a:ext cx="179903" cy="178356"/>
          </a:xfrm>
          <a:prstGeom prst="rect">
            <a:avLst/>
          </a:prstGeom>
          <a:noFill/>
          <a:ln/>
        </p:spPr>
        <p:txBody>
          <a:bodyPr wrap="none" lIns="30480" tIns="30480" rIns="30480" bIns="3048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77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508227" y="3340657"/>
            <a:ext cx="179903" cy="178356"/>
          </a:xfrm>
          <a:prstGeom prst="rect">
            <a:avLst/>
          </a:prstGeom>
          <a:noFill/>
          <a:ln/>
        </p:spPr>
        <p:txBody>
          <a:bodyPr wrap="none" lIns="30480" tIns="30480" rIns="30480" bIns="3048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58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904625" y="5075234"/>
            <a:ext cx="179903" cy="178356"/>
          </a:xfrm>
          <a:prstGeom prst="rect">
            <a:avLst/>
          </a:prstGeom>
          <a:noFill/>
          <a:ln/>
        </p:spPr>
        <p:txBody>
          <a:bodyPr wrap="none" lIns="30480" tIns="30480" rIns="30480" bIns="3048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25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2661790" y="5548300"/>
            <a:ext cx="179903" cy="178356"/>
          </a:xfrm>
          <a:prstGeom prst="rect">
            <a:avLst/>
          </a:prstGeom>
          <a:noFill/>
          <a:ln/>
        </p:spPr>
        <p:txBody>
          <a:bodyPr wrap="none" lIns="30480" tIns="30480" rIns="30480" bIns="3048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16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3058188" y="4970108"/>
            <a:ext cx="179903" cy="178356"/>
          </a:xfrm>
          <a:prstGeom prst="rect">
            <a:avLst/>
          </a:prstGeom>
          <a:noFill/>
          <a:ln/>
        </p:spPr>
        <p:txBody>
          <a:bodyPr wrap="none" lIns="30480" tIns="30480" rIns="30480" bIns="3048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27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3454586" y="3077843"/>
            <a:ext cx="179903" cy="178356"/>
          </a:xfrm>
          <a:prstGeom prst="rect">
            <a:avLst/>
          </a:prstGeom>
          <a:noFill/>
          <a:ln/>
        </p:spPr>
        <p:txBody>
          <a:bodyPr wrap="none" lIns="30480" tIns="30480" rIns="30480" bIns="3048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63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4245267" y="6097667"/>
            <a:ext cx="112871" cy="178356"/>
          </a:xfrm>
          <a:prstGeom prst="rect">
            <a:avLst/>
          </a:prstGeom>
          <a:noFill/>
          <a:ln/>
        </p:spPr>
        <p:txBody>
          <a:bodyPr wrap="none" lIns="30480" tIns="30480" rIns="30480" bIns="3048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641666" y="6045105"/>
            <a:ext cx="112871" cy="178356"/>
          </a:xfrm>
          <a:prstGeom prst="rect">
            <a:avLst/>
          </a:prstGeom>
          <a:noFill/>
          <a:ln/>
        </p:spPr>
        <p:txBody>
          <a:bodyPr wrap="none" lIns="30480" tIns="30480" rIns="30480" bIns="3048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5038064" y="6073930"/>
            <a:ext cx="112871" cy="178356"/>
          </a:xfrm>
          <a:prstGeom prst="rect">
            <a:avLst/>
          </a:prstGeom>
          <a:noFill/>
          <a:ln/>
        </p:spPr>
        <p:txBody>
          <a:bodyPr wrap="none" lIns="30480" tIns="30480" rIns="30480" bIns="3048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5795229" y="6021367"/>
            <a:ext cx="112871" cy="178356"/>
          </a:xfrm>
          <a:prstGeom prst="rect">
            <a:avLst/>
          </a:prstGeom>
          <a:noFill/>
          <a:ln/>
        </p:spPr>
        <p:txBody>
          <a:bodyPr wrap="none" lIns="30480" tIns="30480" rIns="30480" bIns="3048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6158111" y="5705989"/>
            <a:ext cx="179903" cy="178356"/>
          </a:xfrm>
          <a:prstGeom prst="rect">
            <a:avLst/>
          </a:prstGeom>
          <a:noFill/>
          <a:ln/>
        </p:spPr>
        <p:txBody>
          <a:bodyPr wrap="none" lIns="30480" tIns="30480" rIns="30480" bIns="3048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13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588025" y="6073930"/>
            <a:ext cx="112871" cy="178356"/>
          </a:xfrm>
          <a:prstGeom prst="rect">
            <a:avLst/>
          </a:prstGeom>
          <a:noFill/>
          <a:ln/>
        </p:spPr>
        <p:txBody>
          <a:bodyPr wrap="none" lIns="30480" tIns="30480" rIns="30480" bIns="3048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</a:t>
            </a:r>
            <a:endParaRPr lang="en-US" sz="9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064" y="1822344"/>
            <a:ext cx="5153727" cy="286771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171855" y="4820959"/>
            <a:ext cx="1805821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Whitehaven ZIPs of Focus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8171855" y="5124807"/>
            <a:ext cx="5742742" cy="1335881"/>
          </a:xfrm>
          <a:prstGeom prst="roundRect">
            <a:avLst>
              <a:gd name="adj" fmla="val 152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8179475" y="5132427"/>
            <a:ext cx="5726906" cy="3301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/>
          <p:nvPr/>
        </p:nvSpPr>
        <p:spPr>
          <a:xfrm>
            <a:off x="8316159" y="5188862"/>
            <a:ext cx="163318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ZIP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10228660" y="5188862"/>
            <a:ext cx="162937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Population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12137351" y="5188862"/>
            <a:ext cx="163318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Area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8179475" y="5462587"/>
            <a:ext cx="5726906" cy="3301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8180309" y="5462587"/>
            <a:ext cx="1908691" cy="330160"/>
          </a:xfrm>
          <a:prstGeom prst="rect">
            <a:avLst/>
          </a:prstGeom>
          <a:solidFill>
            <a:srgbClr val="FAA1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8316159" y="5519022"/>
            <a:ext cx="163318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38109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10089000" y="5462587"/>
            <a:ext cx="1908691" cy="330160"/>
          </a:xfrm>
          <a:prstGeom prst="rect">
            <a:avLst/>
          </a:prstGeom>
          <a:solidFill>
            <a:srgbClr val="FAA1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10228660" y="5519022"/>
            <a:ext cx="162937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~50K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11997691" y="5462587"/>
            <a:ext cx="1908691" cy="330160"/>
          </a:xfrm>
          <a:prstGeom prst="rect">
            <a:avLst/>
          </a:prstGeom>
          <a:solidFill>
            <a:srgbClr val="FAA1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/>
          <p:nvPr/>
        </p:nvSpPr>
        <p:spPr>
          <a:xfrm>
            <a:off x="12137351" y="5519022"/>
            <a:ext cx="163318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62 sq mi</a:t>
            </a:r>
            <a:endParaRPr lang="en-US" sz="1300" dirty="0"/>
          </a:p>
        </p:txBody>
      </p:sp>
      <p:sp>
        <p:nvSpPr>
          <p:cNvPr id="40" name="Shape 33"/>
          <p:cNvSpPr/>
          <p:nvPr/>
        </p:nvSpPr>
        <p:spPr>
          <a:xfrm>
            <a:off x="8179475" y="5792747"/>
            <a:ext cx="5726906" cy="3301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8180309" y="5792747"/>
            <a:ext cx="1908691" cy="330160"/>
          </a:xfrm>
          <a:prstGeom prst="rect">
            <a:avLst/>
          </a:prstGeom>
          <a:solidFill>
            <a:srgbClr val="FAA1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/>
          <p:nvPr/>
        </p:nvSpPr>
        <p:spPr>
          <a:xfrm>
            <a:off x="8316159" y="5849183"/>
            <a:ext cx="163318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38116</a:t>
            </a:r>
            <a:endParaRPr lang="en-US" sz="1300" dirty="0"/>
          </a:p>
        </p:txBody>
      </p:sp>
      <p:sp>
        <p:nvSpPr>
          <p:cNvPr id="43" name="Shape 36"/>
          <p:cNvSpPr/>
          <p:nvPr/>
        </p:nvSpPr>
        <p:spPr>
          <a:xfrm>
            <a:off x="10089000" y="5792747"/>
            <a:ext cx="1908691" cy="330160"/>
          </a:xfrm>
          <a:prstGeom prst="rect">
            <a:avLst/>
          </a:prstGeom>
          <a:solidFill>
            <a:srgbClr val="FAA1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/>
          <p:nvPr/>
        </p:nvSpPr>
        <p:spPr>
          <a:xfrm>
            <a:off x="10228660" y="5849183"/>
            <a:ext cx="162937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~40K</a:t>
            </a:r>
            <a:endParaRPr lang="en-US" sz="1300" dirty="0"/>
          </a:p>
        </p:txBody>
      </p:sp>
      <p:sp>
        <p:nvSpPr>
          <p:cNvPr id="45" name="Shape 38"/>
          <p:cNvSpPr/>
          <p:nvPr/>
        </p:nvSpPr>
        <p:spPr>
          <a:xfrm>
            <a:off x="11997691" y="5792747"/>
            <a:ext cx="1908691" cy="330160"/>
          </a:xfrm>
          <a:prstGeom prst="rect">
            <a:avLst/>
          </a:prstGeom>
          <a:solidFill>
            <a:srgbClr val="FAA1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39"/>
          <p:cNvSpPr/>
          <p:nvPr/>
        </p:nvSpPr>
        <p:spPr>
          <a:xfrm>
            <a:off x="12137351" y="5849183"/>
            <a:ext cx="163318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12 sq mi</a:t>
            </a:r>
            <a:endParaRPr lang="en-US" sz="1300" dirty="0"/>
          </a:p>
        </p:txBody>
      </p:sp>
      <p:sp>
        <p:nvSpPr>
          <p:cNvPr id="47" name="Shape 40"/>
          <p:cNvSpPr/>
          <p:nvPr/>
        </p:nvSpPr>
        <p:spPr>
          <a:xfrm>
            <a:off x="8179475" y="6122907"/>
            <a:ext cx="5726906" cy="3301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1"/>
          <p:cNvSpPr/>
          <p:nvPr/>
        </p:nvSpPr>
        <p:spPr>
          <a:xfrm>
            <a:off x="8180309" y="6122907"/>
            <a:ext cx="1908691" cy="330160"/>
          </a:xfrm>
          <a:prstGeom prst="rect">
            <a:avLst/>
          </a:prstGeom>
          <a:solidFill>
            <a:srgbClr val="AEE4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2"/>
          <p:cNvSpPr/>
          <p:nvPr/>
        </p:nvSpPr>
        <p:spPr>
          <a:xfrm>
            <a:off x="8316159" y="6179343"/>
            <a:ext cx="163318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38117</a:t>
            </a:r>
            <a:endParaRPr lang="en-US" sz="1300" dirty="0"/>
          </a:p>
        </p:txBody>
      </p:sp>
      <p:sp>
        <p:nvSpPr>
          <p:cNvPr id="50" name="Shape 43"/>
          <p:cNvSpPr/>
          <p:nvPr/>
        </p:nvSpPr>
        <p:spPr>
          <a:xfrm>
            <a:off x="10089000" y="6122907"/>
            <a:ext cx="1908691" cy="330160"/>
          </a:xfrm>
          <a:prstGeom prst="rect">
            <a:avLst/>
          </a:prstGeom>
          <a:solidFill>
            <a:srgbClr val="AEE4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4"/>
          <p:cNvSpPr/>
          <p:nvPr/>
        </p:nvSpPr>
        <p:spPr>
          <a:xfrm>
            <a:off x="10228660" y="6179343"/>
            <a:ext cx="162937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~26K</a:t>
            </a:r>
            <a:endParaRPr lang="en-US" sz="1300" dirty="0"/>
          </a:p>
        </p:txBody>
      </p:sp>
      <p:sp>
        <p:nvSpPr>
          <p:cNvPr id="52" name="Shape 45"/>
          <p:cNvSpPr/>
          <p:nvPr/>
        </p:nvSpPr>
        <p:spPr>
          <a:xfrm>
            <a:off x="11997691" y="6122907"/>
            <a:ext cx="1908691" cy="330160"/>
          </a:xfrm>
          <a:prstGeom prst="rect">
            <a:avLst/>
          </a:prstGeom>
          <a:solidFill>
            <a:srgbClr val="AEE4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6"/>
          <p:cNvSpPr/>
          <p:nvPr/>
        </p:nvSpPr>
        <p:spPr>
          <a:xfrm>
            <a:off x="12137351" y="6179343"/>
            <a:ext cx="163318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9 sq mi</a:t>
            </a:r>
            <a:endParaRPr lang="en-US" sz="1300" dirty="0"/>
          </a:p>
        </p:txBody>
      </p:sp>
      <p:sp>
        <p:nvSpPr>
          <p:cNvPr id="54" name="Shape 47"/>
          <p:cNvSpPr/>
          <p:nvPr/>
        </p:nvSpPr>
        <p:spPr>
          <a:xfrm>
            <a:off x="731758" y="6953488"/>
            <a:ext cx="13166884" cy="430411"/>
          </a:xfrm>
          <a:prstGeom prst="roundRect">
            <a:avLst>
              <a:gd name="adj" fmla="val 4737"/>
            </a:avLst>
          </a:prstGeom>
          <a:solidFill>
            <a:srgbClr val="B3C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7608" y="7126248"/>
            <a:ext cx="169783" cy="135850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1173242" y="7068860"/>
            <a:ext cx="12589550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Economy, mobility, food, and healthcare access intersect here.</a:t>
            </a: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This is a concentrated, addressable geography with overlapping vulnerabilities.</a:t>
            </a:r>
            <a:endParaRPr lang="en-US" sz="1050" dirty="0"/>
          </a:p>
        </p:txBody>
      </p:sp>
      <p:sp>
        <p:nvSpPr>
          <p:cNvPr id="57" name="Text 49"/>
          <p:cNvSpPr/>
          <p:nvPr/>
        </p:nvSpPr>
        <p:spPr>
          <a:xfrm>
            <a:off x="731758" y="7475458"/>
            <a:ext cx="13166884" cy="139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Source: IGS, ACS/Census, healthcare enrichment, uploaded analysis charts.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88744" y="694611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Benchmarking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2429351" y="1287166"/>
            <a:ext cx="1015436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This community underperforms county, state, and national benchmarks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1753433"/>
            <a:ext cx="1128700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                                               Economic Gaps                                                                                                                    Median Income 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3790" y="2407087"/>
            <a:ext cx="1232773" cy="224195"/>
          </a:xfrm>
          <a:prstGeom prst="roundRect">
            <a:avLst>
              <a:gd name="adj" fmla="val 7994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346" y="2455188"/>
            <a:ext cx="127992" cy="1279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5963" y="2436019"/>
            <a:ext cx="919043" cy="166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Low-IGS Shelby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087523" y="2407087"/>
            <a:ext cx="1513165" cy="224195"/>
          </a:xfrm>
          <a:prstGeom prst="roundRect">
            <a:avLst>
              <a:gd name="adj" fmla="val 7994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79" y="2455188"/>
            <a:ext cx="127992" cy="1279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329696" y="2436019"/>
            <a:ext cx="1199436" cy="166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High-Growth Shelby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661648" y="2407087"/>
            <a:ext cx="944999" cy="224195"/>
          </a:xfrm>
          <a:prstGeom prst="roundRect">
            <a:avLst>
              <a:gd name="adj" fmla="val 7994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3205" y="2455188"/>
            <a:ext cx="127992" cy="1279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03821" y="2436019"/>
            <a:ext cx="631269" cy="166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Tennessee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667607" y="2407087"/>
            <a:ext cx="543401" cy="224195"/>
          </a:xfrm>
          <a:prstGeom prst="roundRect">
            <a:avLst>
              <a:gd name="adj" fmla="val 7994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9164" y="2455188"/>
            <a:ext cx="127992" cy="1279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909780" y="2436019"/>
            <a:ext cx="229672" cy="166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U.S.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2737961"/>
            <a:ext cx="7027188" cy="339459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99842" y="4330398"/>
            <a:ext cx="117396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35.8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1625652" y="3549678"/>
            <a:ext cx="117396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55.7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951462" y="3796841"/>
            <a:ext cx="117396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49.4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2277272" y="3730146"/>
            <a:ext cx="117396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51.1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2980052" y="4557944"/>
            <a:ext cx="117396" cy="134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30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3275382" y="5224332"/>
            <a:ext cx="178356" cy="211336"/>
          </a:xfrm>
          <a:prstGeom prst="rect">
            <a:avLst/>
          </a:prstGeom>
          <a:noFill/>
          <a:ln/>
        </p:spPr>
        <p:txBody>
          <a:bodyPr wrap="none" lIns="30480" tIns="30480" rIns="30480" bIns="3048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5.5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3631672" y="5185657"/>
            <a:ext cx="117396" cy="134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14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3957482" y="5224889"/>
            <a:ext cx="117396" cy="134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13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4660262" y="5271968"/>
            <a:ext cx="117396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11.8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4955592" y="5299939"/>
            <a:ext cx="178356" cy="211336"/>
          </a:xfrm>
          <a:prstGeom prst="rect">
            <a:avLst/>
          </a:prstGeom>
          <a:noFill/>
          <a:ln/>
        </p:spPr>
        <p:txBody>
          <a:bodyPr wrap="none" lIns="30480" tIns="30480" rIns="30480" bIns="3048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3.5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5311882" y="5471568"/>
            <a:ext cx="117396" cy="67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5607212" y="5220635"/>
            <a:ext cx="178356" cy="211336"/>
          </a:xfrm>
          <a:prstGeom prst="rect">
            <a:avLst/>
          </a:prstGeom>
          <a:noFill/>
          <a:ln/>
        </p:spPr>
        <p:txBody>
          <a:bodyPr wrap="none" lIns="30480" tIns="30480" rIns="30480" bIns="3048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5.4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6340472" y="3451598"/>
            <a:ext cx="117396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58.2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6666282" y="3110279"/>
            <a:ext cx="117396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66.9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992092" y="3380980"/>
            <a:ext cx="117396" cy="134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60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7317902" y="3263284"/>
            <a:ext cx="117396" cy="134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63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8370451" y="2407087"/>
            <a:ext cx="885825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791" y="2443639"/>
            <a:ext cx="91440" cy="9144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545711" y="2429947"/>
            <a:ext cx="657225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Low-IGS Shelby</a:t>
            </a:r>
            <a:endParaRPr lang="en-US" sz="700" dirty="0"/>
          </a:p>
        </p:txBody>
      </p:sp>
      <p:sp>
        <p:nvSpPr>
          <p:cNvPr id="37" name="Shape 29"/>
          <p:cNvSpPr/>
          <p:nvPr/>
        </p:nvSpPr>
        <p:spPr>
          <a:xfrm>
            <a:off x="9317236" y="2407087"/>
            <a:ext cx="916662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0576" y="2443639"/>
            <a:ext cx="91440" cy="9144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9492496" y="2429947"/>
            <a:ext cx="688062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High-IGS Shelby</a:t>
            </a:r>
            <a:endParaRPr lang="en-US" sz="700" dirty="0"/>
          </a:p>
        </p:txBody>
      </p:sp>
      <p:sp>
        <p:nvSpPr>
          <p:cNvPr id="40" name="Shape 31"/>
          <p:cNvSpPr/>
          <p:nvPr/>
        </p:nvSpPr>
        <p:spPr>
          <a:xfrm>
            <a:off x="10294858" y="2407087"/>
            <a:ext cx="679966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8198" y="2443639"/>
            <a:ext cx="91440" cy="9144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0470118" y="2429947"/>
            <a:ext cx="451366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Tennessee</a:t>
            </a:r>
            <a:endParaRPr lang="en-US" sz="700" dirty="0"/>
          </a:p>
        </p:txBody>
      </p:sp>
      <p:sp>
        <p:nvSpPr>
          <p:cNvPr id="43" name="Shape 33"/>
          <p:cNvSpPr/>
          <p:nvPr/>
        </p:nvSpPr>
        <p:spPr>
          <a:xfrm>
            <a:off x="11035784" y="2407087"/>
            <a:ext cx="392906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89124" y="2443639"/>
            <a:ext cx="91440" cy="9144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11211044" y="2429947"/>
            <a:ext cx="164306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U.S.</a:t>
            </a:r>
            <a:endParaRPr lang="en-US" sz="700" dirty="0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70451" y="2647831"/>
            <a:ext cx="5440799" cy="370332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9449336" y="4950156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43.4k</a:t>
            </a:r>
            <a:endParaRPr lang="en-US" sz="650" dirty="0"/>
          </a:p>
        </p:txBody>
      </p:sp>
      <p:sp>
        <p:nvSpPr>
          <p:cNvPr id="48" name="Text 36"/>
          <p:cNvSpPr/>
          <p:nvPr/>
        </p:nvSpPr>
        <p:spPr>
          <a:xfrm>
            <a:off x="10522625" y="3080286"/>
            <a:ext cx="234315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119k</a:t>
            </a:r>
            <a:endParaRPr lang="en-US" sz="650" dirty="0"/>
          </a:p>
        </p:txBody>
      </p:sp>
      <p:sp>
        <p:nvSpPr>
          <p:cNvPr id="49" name="Text 37"/>
          <p:cNvSpPr/>
          <p:nvPr/>
        </p:nvSpPr>
        <p:spPr>
          <a:xfrm>
            <a:off x="11573411" y="4212317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73.4k</a:t>
            </a:r>
            <a:endParaRPr lang="en-US" sz="650" dirty="0"/>
          </a:p>
        </p:txBody>
      </p:sp>
      <p:sp>
        <p:nvSpPr>
          <p:cNvPr id="50" name="Text 38"/>
          <p:cNvSpPr/>
          <p:nvPr/>
        </p:nvSpPr>
        <p:spPr>
          <a:xfrm>
            <a:off x="12635448" y="3881149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86.9k</a:t>
            </a:r>
            <a:endParaRPr lang="en-US" sz="650" dirty="0"/>
          </a:p>
        </p:txBody>
      </p:sp>
      <p:sp>
        <p:nvSpPr>
          <p:cNvPr id="51" name="Shape 39"/>
          <p:cNvSpPr/>
          <p:nvPr/>
        </p:nvSpPr>
        <p:spPr>
          <a:xfrm>
            <a:off x="793790" y="6593086"/>
            <a:ext cx="13042821" cy="607933"/>
          </a:xfrm>
          <a:prstGeom prst="roundRect">
            <a:avLst>
              <a:gd name="adj" fmla="val 4198"/>
            </a:avLst>
          </a:prstGeom>
          <a:solidFill>
            <a:srgbClr val="B3C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3811" y="6824424"/>
            <a:ext cx="212646" cy="170021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1346478" y="6763107"/>
            <a:ext cx="1232011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"Low-IGS Shelby is not slightly behind — it is structurally disconnected from the county's higher-growth trajectory."</a:t>
            </a:r>
            <a:endParaRPr lang="en-US" sz="1300" dirty="0"/>
          </a:p>
        </p:txBody>
      </p:sp>
      <p:sp>
        <p:nvSpPr>
          <p:cNvPr id="54" name="Text 41"/>
          <p:cNvSpPr/>
          <p:nvPr/>
        </p:nvSpPr>
        <p:spPr>
          <a:xfrm>
            <a:off x="793790" y="7344489"/>
            <a:ext cx="130428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Source: IGS, ACS/Census, healthcare enrichment, uploaded analysis charts.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58671" y="624364"/>
            <a:ext cx="3513058" cy="43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Findings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2528113" y="1098232"/>
            <a:ext cx="9231511" cy="35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Economic vulnerability overlaps with worse healthcare access and health strain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6642" y="1658422"/>
            <a:ext cx="6387227" cy="18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Health Outcomes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56642" y="1938218"/>
            <a:ext cx="1059180" cy="194310"/>
          </a:xfrm>
          <a:prstGeom prst="roundRect">
            <a:avLst>
              <a:gd name="adj" fmla="val 79059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031" y="1980486"/>
            <a:ext cx="109657" cy="1096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5240" y="1964055"/>
            <a:ext cx="788194" cy="142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Low-IGS Shelby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876782" y="1938218"/>
            <a:ext cx="1272897" cy="194310"/>
          </a:xfrm>
          <a:prstGeom prst="roundRect">
            <a:avLst>
              <a:gd name="adj" fmla="val 79059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9171" y="1980486"/>
            <a:ext cx="109657" cy="10965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85380" y="1964055"/>
            <a:ext cx="1001911" cy="142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Average-IGS Shelby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3210639" y="1938218"/>
            <a:ext cx="1096089" cy="194310"/>
          </a:xfrm>
          <a:prstGeom prst="roundRect">
            <a:avLst>
              <a:gd name="adj" fmla="val 79059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028" y="1980486"/>
            <a:ext cx="109657" cy="10965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19237" y="1964055"/>
            <a:ext cx="825103" cy="142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High-IGS Shelby</a:t>
            </a:r>
            <a:endParaRPr lang="en-US" sz="8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642" y="2223968"/>
            <a:ext cx="5567362" cy="349722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48427" y="4489456"/>
            <a:ext cx="245150" cy="161568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15.9</a:t>
            </a:r>
            <a:endParaRPr lang="en-US" sz="750" dirty="0"/>
          </a:p>
        </p:txBody>
      </p:sp>
      <p:sp>
        <p:nvSpPr>
          <p:cNvPr id="16" name="Text 10"/>
          <p:cNvSpPr/>
          <p:nvPr/>
        </p:nvSpPr>
        <p:spPr>
          <a:xfrm>
            <a:off x="1386542" y="4510087"/>
            <a:ext cx="245150" cy="161568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15.5</a:t>
            </a:r>
            <a:endParaRPr lang="en-US" sz="750" dirty="0"/>
          </a:p>
        </p:txBody>
      </p:sp>
      <p:sp>
        <p:nvSpPr>
          <p:cNvPr id="17" name="Text 11"/>
          <p:cNvSpPr/>
          <p:nvPr/>
        </p:nvSpPr>
        <p:spPr>
          <a:xfrm>
            <a:off x="1753412" y="4894572"/>
            <a:ext cx="187643" cy="161568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7.3</a:t>
            </a:r>
            <a:endParaRPr lang="en-US" sz="750" dirty="0"/>
          </a:p>
        </p:txBody>
      </p:sp>
      <p:sp>
        <p:nvSpPr>
          <p:cNvPr id="18" name="Text 12"/>
          <p:cNvSpPr/>
          <p:nvPr/>
        </p:nvSpPr>
        <p:spPr>
          <a:xfrm>
            <a:off x="2370497" y="2629862"/>
            <a:ext cx="245150" cy="161568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55.6</a:t>
            </a:r>
            <a:endParaRPr lang="en-US" sz="750" dirty="0"/>
          </a:p>
        </p:txBody>
      </p:sp>
      <p:sp>
        <p:nvSpPr>
          <p:cNvPr id="19" name="Text 13"/>
          <p:cNvSpPr/>
          <p:nvPr/>
        </p:nvSpPr>
        <p:spPr>
          <a:xfrm>
            <a:off x="2708612" y="3216072"/>
            <a:ext cx="245150" cy="161568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43.1</a:t>
            </a:r>
            <a:endParaRPr lang="en-US" sz="750" dirty="0"/>
          </a:p>
        </p:txBody>
      </p:sp>
      <p:sp>
        <p:nvSpPr>
          <p:cNvPr id="20" name="Text 14"/>
          <p:cNvSpPr/>
          <p:nvPr/>
        </p:nvSpPr>
        <p:spPr>
          <a:xfrm>
            <a:off x="3046728" y="3731739"/>
            <a:ext cx="245150" cy="161568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32.1</a:t>
            </a:r>
            <a:endParaRPr lang="en-US" sz="750" dirty="0"/>
          </a:p>
        </p:txBody>
      </p:sp>
      <p:sp>
        <p:nvSpPr>
          <p:cNvPr id="21" name="Text 15"/>
          <p:cNvSpPr/>
          <p:nvPr/>
        </p:nvSpPr>
        <p:spPr>
          <a:xfrm>
            <a:off x="3692567" y="3117593"/>
            <a:ext cx="245150" cy="161568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45.2</a:t>
            </a:r>
            <a:endParaRPr lang="en-US" sz="750" dirty="0"/>
          </a:p>
        </p:txBody>
      </p:sp>
      <p:sp>
        <p:nvSpPr>
          <p:cNvPr id="22" name="Text 16"/>
          <p:cNvSpPr/>
          <p:nvPr/>
        </p:nvSpPr>
        <p:spPr>
          <a:xfrm>
            <a:off x="4030682" y="3216072"/>
            <a:ext cx="245150" cy="161568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43.1</a:t>
            </a:r>
            <a:endParaRPr lang="en-US" sz="750" dirty="0"/>
          </a:p>
        </p:txBody>
      </p:sp>
      <p:sp>
        <p:nvSpPr>
          <p:cNvPr id="23" name="Text 17"/>
          <p:cNvSpPr/>
          <p:nvPr/>
        </p:nvSpPr>
        <p:spPr>
          <a:xfrm>
            <a:off x="4368798" y="3712984"/>
            <a:ext cx="245150" cy="161568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32.5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5014637" y="4224068"/>
            <a:ext cx="245150" cy="161568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21.6</a:t>
            </a:r>
            <a:endParaRPr lang="en-US" sz="750" dirty="0"/>
          </a:p>
        </p:txBody>
      </p:sp>
      <p:sp>
        <p:nvSpPr>
          <p:cNvPr id="25" name="Text 19"/>
          <p:cNvSpPr/>
          <p:nvPr/>
        </p:nvSpPr>
        <p:spPr>
          <a:xfrm>
            <a:off x="5394960" y="4439754"/>
            <a:ext cx="160734" cy="161568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17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5690868" y="4707018"/>
            <a:ext cx="245150" cy="161568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11.3</a:t>
            </a:r>
            <a:endParaRPr lang="en-US" sz="750" dirty="0"/>
          </a:p>
        </p:txBody>
      </p:sp>
      <p:sp>
        <p:nvSpPr>
          <p:cNvPr id="27" name="Text 21"/>
          <p:cNvSpPr/>
          <p:nvPr/>
        </p:nvSpPr>
        <p:spPr>
          <a:xfrm>
            <a:off x="7494151" y="1658422"/>
            <a:ext cx="6387227" cy="18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Vehicle Access by zip-code+ 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7494151" y="1938218"/>
            <a:ext cx="1290280" cy="194310"/>
          </a:xfrm>
          <a:prstGeom prst="roundRect">
            <a:avLst>
              <a:gd name="adj" fmla="val 79059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40" y="1980486"/>
            <a:ext cx="109657" cy="109657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702748" y="1964055"/>
            <a:ext cx="1019294" cy="142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38109 (Low-growth)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8845391" y="1938218"/>
            <a:ext cx="1290280" cy="194310"/>
          </a:xfrm>
          <a:prstGeom prst="roundRect">
            <a:avLst>
              <a:gd name="adj" fmla="val 79059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7780" y="1980486"/>
            <a:ext cx="109657" cy="10965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53989" y="1964055"/>
            <a:ext cx="1019294" cy="142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38116 (Low-growth)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10196632" y="1938218"/>
            <a:ext cx="1327309" cy="194310"/>
          </a:xfrm>
          <a:prstGeom prst="roundRect">
            <a:avLst>
              <a:gd name="adj" fmla="val 79059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020" y="1980486"/>
            <a:ext cx="109657" cy="109657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0405229" y="1964055"/>
            <a:ext cx="1056323" cy="142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38117 (High-growth)</a:t>
            </a:r>
            <a:endParaRPr lang="en-US" sz="85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4151" y="2223968"/>
            <a:ext cx="4903232" cy="3348990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756642" y="5864304"/>
            <a:ext cx="6514981" cy="946904"/>
          </a:xfrm>
          <a:prstGeom prst="roundRect">
            <a:avLst>
              <a:gd name="adj" fmla="val 7725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29"/>
          <p:cNvSpPr/>
          <p:nvPr/>
        </p:nvSpPr>
        <p:spPr>
          <a:xfrm>
            <a:off x="741402" y="5864304"/>
            <a:ext cx="60960" cy="946904"/>
          </a:xfrm>
          <a:prstGeom prst="roundRect">
            <a:avLst>
              <a:gd name="adj" fmla="val 34578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0"/>
          <p:cNvSpPr/>
          <p:nvPr/>
        </p:nvSpPr>
        <p:spPr>
          <a:xfrm>
            <a:off x="958096" y="6020038"/>
            <a:ext cx="2834640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1. Compounding Health-Access Penalty</a:t>
            </a:r>
            <a:endParaRPr lang="en-US" sz="1350" dirty="0"/>
          </a:p>
        </p:txBody>
      </p:sp>
      <p:sp>
        <p:nvSpPr>
          <p:cNvPr id="41" name="Text 31"/>
          <p:cNvSpPr/>
          <p:nvPr/>
        </p:nvSpPr>
        <p:spPr>
          <a:xfrm>
            <a:off x="958096" y="6291620"/>
            <a:ext cx="6157793" cy="363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Low-IGS tracts face a compounding health-access penalty across insurance, providers, and preventive care.</a:t>
            </a:r>
            <a:endParaRPr lang="en-US" sz="1100" dirty="0"/>
          </a:p>
        </p:txBody>
      </p:sp>
      <p:sp>
        <p:nvSpPr>
          <p:cNvPr id="42" name="Shape 32"/>
          <p:cNvSpPr/>
          <p:nvPr/>
        </p:nvSpPr>
        <p:spPr>
          <a:xfrm>
            <a:off x="7358658" y="5864304"/>
            <a:ext cx="6515100" cy="946904"/>
          </a:xfrm>
          <a:prstGeom prst="roundRect">
            <a:avLst>
              <a:gd name="adj" fmla="val 7725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3"/>
          <p:cNvSpPr/>
          <p:nvPr/>
        </p:nvSpPr>
        <p:spPr>
          <a:xfrm>
            <a:off x="7343418" y="5864304"/>
            <a:ext cx="60960" cy="946904"/>
          </a:xfrm>
          <a:prstGeom prst="roundRect">
            <a:avLst>
              <a:gd name="adj" fmla="val 34578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4"/>
          <p:cNvSpPr/>
          <p:nvPr/>
        </p:nvSpPr>
        <p:spPr>
          <a:xfrm>
            <a:off x="7560112" y="6020038"/>
            <a:ext cx="1893213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2. Transportation Friction</a:t>
            </a:r>
            <a:endParaRPr lang="en-US" sz="1350" dirty="0"/>
          </a:p>
        </p:txBody>
      </p:sp>
      <p:sp>
        <p:nvSpPr>
          <p:cNvPr id="45" name="Text 35"/>
          <p:cNvSpPr/>
          <p:nvPr/>
        </p:nvSpPr>
        <p:spPr>
          <a:xfrm>
            <a:off x="7560112" y="6291620"/>
            <a:ext cx="6157913" cy="18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Transportation friction appears to reduce preventive and dental care completion rates.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756642" y="6909078"/>
            <a:ext cx="13117116" cy="452676"/>
          </a:xfrm>
          <a:prstGeom prst="roundRect">
            <a:avLst>
              <a:gd name="adj" fmla="val 4657"/>
            </a:avLst>
          </a:prstGeom>
          <a:solidFill>
            <a:srgbClr val="B3C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136" y="7091243"/>
            <a:ext cx="175617" cy="140494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1213247" y="7031236"/>
            <a:ext cx="12520017" cy="18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strongest story:</a:t>
            </a: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Economic vulnerability + transportation/access friction → lower preventive care + missed appointments → worse chronic disease burden.</a:t>
            </a:r>
            <a:endParaRPr lang="en-US" sz="1100" dirty="0"/>
          </a:p>
        </p:txBody>
      </p:sp>
      <p:sp>
        <p:nvSpPr>
          <p:cNvPr id="49" name="Text 38"/>
          <p:cNvSpPr/>
          <p:nvPr/>
        </p:nvSpPr>
        <p:spPr>
          <a:xfrm>
            <a:off x="756642" y="7459623"/>
            <a:ext cx="13117116" cy="145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Source: IGS, ACS/Census, healthcare enrichment, uploaded analysis charts.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2421" y="665321"/>
            <a:ext cx="446555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3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Implementation Plan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2144487" y="1279684"/>
            <a:ext cx="10794563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 practical 3-year rollout built on existing Memphis health infrastructure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07" y="1937266"/>
            <a:ext cx="4355783" cy="7144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001" y="2792373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Phase 1 — Pilot (Year 1)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0001" y="3155632"/>
            <a:ext cx="3998595" cy="1935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Launch in highest-need South Memphis service area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Start one community garden site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Build referral and ride coordination with ShelbyCares and trusted providers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Enroll founding households and begin subsidized health rides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190" y="1937266"/>
            <a:ext cx="4355902" cy="7144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15783" y="2792373"/>
            <a:ext cx="2458760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Phase 2 — Expand (Year 2)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5315783" y="3155632"/>
            <a:ext cx="3998714" cy="111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Add more ride destinations and health event partners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Expand produce distribution and awareness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Grow membership base and app usage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3091" y="1937266"/>
            <a:ext cx="4355783" cy="7144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1685" y="2792373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Phase 3 — Scale (Year 3)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9671685" y="3155632"/>
            <a:ext cx="3998595" cy="86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Expand across more low-IGS tracts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Formalize healthcare referral loops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Move toward blended nonprofit sustainability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781407" y="5480447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Funding Architecture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781407" y="5970389"/>
            <a:ext cx="13067586" cy="1231225"/>
          </a:xfrm>
          <a:prstGeom prst="roundRect">
            <a:avLst>
              <a:gd name="adj" fmla="val 217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781407" y="5970389"/>
            <a:ext cx="4355783" cy="1231225"/>
          </a:xfrm>
          <a:prstGeom prst="roundRect">
            <a:avLst>
              <a:gd name="adj" fmla="val 217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960001" y="6148983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Startup &amp; Pilot Grants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960001" y="6512243"/>
            <a:ext cx="3998595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Public-health and foundation grant funding for Year 1 launch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137190" y="5970389"/>
            <a:ext cx="4355902" cy="1231225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5137190" y="5970389"/>
            <a:ext cx="22860" cy="1231225"/>
          </a:xfrm>
          <a:prstGeom prst="roundRect">
            <a:avLst>
              <a:gd name="adj" fmla="val 11720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5315783" y="6148983"/>
            <a:ext cx="2402800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Institutional Partnerships</a:t>
            </a:r>
            <a:endParaRPr lang="en-US" sz="1750" dirty="0"/>
          </a:p>
        </p:txBody>
      </p:sp>
      <p:sp>
        <p:nvSpPr>
          <p:cNvPr id="21" name="Text 16"/>
          <p:cNvSpPr/>
          <p:nvPr/>
        </p:nvSpPr>
        <p:spPr>
          <a:xfrm>
            <a:off x="5315783" y="6512243"/>
            <a:ext cx="3998714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ShelbyCares, UTHSC-aligned care ecosystem, local government, and public-health stakeholders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9493091" y="5970389"/>
            <a:ext cx="4355783" cy="1231225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493091" y="5970389"/>
            <a:ext cx="22860" cy="1231225"/>
          </a:xfrm>
          <a:prstGeom prst="roundRect">
            <a:avLst>
              <a:gd name="adj" fmla="val 11720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9671685" y="6148983"/>
            <a:ext cx="2291358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Blended Earned Revenue</a:t>
            </a:r>
            <a:endParaRPr lang="en-US" sz="1750" dirty="0"/>
          </a:p>
        </p:txBody>
      </p:sp>
      <p:sp>
        <p:nvSpPr>
          <p:cNvPr id="25" name="Text 20"/>
          <p:cNvSpPr/>
          <p:nvPr/>
        </p:nvSpPr>
        <p:spPr>
          <a:xfrm>
            <a:off x="9671685" y="6512243"/>
            <a:ext cx="3998595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Memberships, subsidized rides, and produce/garden programs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781407" y="7359848"/>
            <a:ext cx="13067586" cy="204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Source: IGS, ACS/Census, healthcare enrichment, uploaded analysis charts.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72232" y="2015490"/>
            <a:ext cx="368593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Proposed Solutions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2514481"/>
            <a:ext cx="8813483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ShelbyFirst connects mobility, nutrition, and care access in one platform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93790" y="3026807"/>
            <a:ext cx="4283750" cy="1898690"/>
          </a:xfrm>
          <a:prstGeom prst="roundRect">
            <a:avLst>
              <a:gd name="adj" fmla="val 116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41189" y="3174206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752" y="3295769"/>
            <a:ext cx="198953" cy="1989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189" y="3712131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Move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41189" y="3999905"/>
            <a:ext cx="3988951" cy="778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Affordable healthcare-focused rides priced below typical rideshare alternatives.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Member:</a:t>
            </a: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$4–$6 one-way / ~$8 round trip in-zone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Non-member:</a:t>
            </a: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$7–$9 one-way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173266" y="3026807"/>
            <a:ext cx="4283750" cy="1898690"/>
          </a:xfrm>
          <a:prstGeom prst="roundRect">
            <a:avLst>
              <a:gd name="adj" fmla="val 116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320665" y="3174206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42228" y="3295769"/>
            <a:ext cx="198953" cy="19895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20665" y="3712131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Nourish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320665" y="3999905"/>
            <a:ext cx="3988951" cy="583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Community garden in southern Memphis providing healthy food access, physical activity, and community participation.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Optional add-on:</a:t>
            </a: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$10–$15/month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9552742" y="3026807"/>
            <a:ext cx="4283869" cy="1898690"/>
          </a:xfrm>
          <a:prstGeom prst="roundRect">
            <a:avLst>
              <a:gd name="adj" fmla="val 116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700141" y="3174206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1704" y="3295769"/>
            <a:ext cx="198953" cy="19895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700141" y="3712131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Connect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700141" y="3999905"/>
            <a:ext cx="3989070" cy="778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 integrating ride access, garden engagement, health events, referrals, and partner services including ShelbyCares.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Access Membership:</a:t>
            </a: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$9.99/mo | </a:t>
            </a:r>
            <a:r>
              <a:rPr lang="en-US" sz="11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Care Membership:</a:t>
            </a: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$19.99/mo (2 subsidized rides)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793790" y="5119449"/>
            <a:ext cx="2588895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pic>
        <p:nvPicPr>
          <p:cNvPr id="20" name="Image 3" descr="preencoded.png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873" y="5141000"/>
            <a:ext cx="6561177" cy="70187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93790" y="6058376"/>
            <a:ext cx="13042821" cy="155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Source: IGS, ACS/Census, healthcare enrichment, uploaded analysis charts.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88744" y="747117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Predicted Outcomes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2838347" y="1308827"/>
            <a:ext cx="919210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 realistic 3-year pathway to healthier and more inclusive growth</a:t>
            </a:r>
            <a:endParaRPr lang="en-US" sz="2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37" y="2089784"/>
            <a:ext cx="7192505" cy="45966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72368" y="207383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Base-Case Story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8472368" y="2483048"/>
            <a:ext cx="382667" cy="382667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536126" y="2514898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982551" y="2541508"/>
            <a:ext cx="2541627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Year 1 — Modest Pilot Effects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982551" y="2934772"/>
            <a:ext cx="486156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Founding household enrollment, initial ride utilization, garden launch, early referral loops with ShelbyCares.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72368" y="3666173"/>
            <a:ext cx="382667" cy="382667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536126" y="3698022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982551" y="3724632"/>
            <a:ext cx="2732127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Year 2 — Stronger Engagement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982551" y="4117896"/>
            <a:ext cx="486156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Growing membership, dental screening events, expanded produce distribution, preventive-care campaign uptake.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472368" y="4849297"/>
            <a:ext cx="382667" cy="382667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536126" y="4881146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982551" y="4907756"/>
            <a:ext cx="317194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Year 3 — Measurable Improvements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8982551" y="5301020"/>
            <a:ext cx="486156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Measurable improvements in utilization and access; directional uplift in Inclusive Growth performance over time.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472368" y="5920740"/>
            <a:ext cx="5371743" cy="1084183"/>
          </a:xfrm>
          <a:prstGeom prst="roundRect">
            <a:avLst>
              <a:gd name="adj" fmla="val 2354"/>
            </a:avLst>
          </a:prstGeom>
          <a:solidFill>
            <a:srgbClr val="B3C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2390" y="6152078"/>
            <a:ext cx="212646" cy="17002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025057" y="6090761"/>
            <a:ext cx="4649033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ShelbyFirst influences IGS indirectly</a:t>
            </a: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through better mobility, healthier food access, stronger preventive care participation, and deeper community engagement.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93790" y="7291864"/>
            <a:ext cx="130428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Source: IGS, ACS/Census, healthcare enrichment, uploaded analysis charts.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72232" y="699373"/>
            <a:ext cx="368593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Metrics for Success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1198364"/>
            <a:ext cx="7701082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How ShelbyFirst will track impact and accountability over time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93790" y="1710690"/>
            <a:ext cx="3188851" cy="2271236"/>
          </a:xfrm>
          <a:prstGeom prst="roundRect">
            <a:avLst>
              <a:gd name="adj" fmla="val 974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9030" y="1725930"/>
            <a:ext cx="3158371" cy="442198"/>
          </a:xfrm>
          <a:prstGeom prst="roundRect">
            <a:avLst>
              <a:gd name="adj" fmla="val 86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7666" y="1836420"/>
            <a:ext cx="221099" cy="2210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6429" y="226385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Access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56429" y="2551628"/>
            <a:ext cx="2863572" cy="8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Active members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Rides completed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ride cost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% of rides to healthcare destinations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078367" y="1710690"/>
            <a:ext cx="3188970" cy="2271236"/>
          </a:xfrm>
          <a:prstGeom prst="roundRect">
            <a:avLst>
              <a:gd name="adj" fmla="val 974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093607" y="1725930"/>
            <a:ext cx="3158490" cy="442198"/>
          </a:xfrm>
          <a:prstGeom prst="roundRect">
            <a:avLst>
              <a:gd name="adj" fmla="val 86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2243" y="1836420"/>
            <a:ext cx="221099" cy="2210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41006" y="226385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Care Utilization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241006" y="2551628"/>
            <a:ext cx="2863691" cy="8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Appointment attendance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Dental/preventive visit completion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Referral-to-appointment conversion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Repeat clinic engagement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363063" y="1710690"/>
            <a:ext cx="3188851" cy="2271236"/>
          </a:xfrm>
          <a:prstGeom prst="roundRect">
            <a:avLst>
              <a:gd name="adj" fmla="val 974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378303" y="1725930"/>
            <a:ext cx="3158371" cy="442198"/>
          </a:xfrm>
          <a:prstGeom prst="roundRect">
            <a:avLst>
              <a:gd name="adj" fmla="val 86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46939" y="1836420"/>
            <a:ext cx="221099" cy="22109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525703" y="2263854"/>
            <a:ext cx="184808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Nutrition &amp; Community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7525703" y="2551628"/>
            <a:ext cx="2863572" cy="8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Garden participation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Produce distributed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Class/workshop attendance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Repeat engagement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10647640" y="1710690"/>
            <a:ext cx="3188970" cy="2271236"/>
          </a:xfrm>
          <a:prstGeom prst="roundRect">
            <a:avLst>
              <a:gd name="adj" fmla="val 974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10662880" y="1725930"/>
            <a:ext cx="3158490" cy="442198"/>
          </a:xfrm>
          <a:prstGeom prst="roundRect">
            <a:avLst>
              <a:gd name="adj" fmla="val 86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31516" y="1836420"/>
            <a:ext cx="221099" cy="22109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810280" y="2263854"/>
            <a:ext cx="2229564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Inclusive Growth Monitoring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0810280" y="2551628"/>
            <a:ext cx="2863691" cy="1267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Ongoing comparison of target tracts against IGS-linked indicators over time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Transportation access proxies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Preventive care proxies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Community-level health access measures</a:t>
            </a:r>
            <a:endParaRPr lang="en-US" sz="11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3027" y="4089678"/>
            <a:ext cx="8104346" cy="317706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457105" y="4245488"/>
            <a:ext cx="1483549" cy="476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Measure Outcomes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9689599" y="4245488"/>
            <a:ext cx="1483549" cy="23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Learn from Data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9689599" y="6872429"/>
            <a:ext cx="1483549" cy="23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Improve Programs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3457105" y="6872429"/>
            <a:ext cx="1483549" cy="23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Scale What Works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793790" y="7374493"/>
            <a:ext cx="13042821" cy="155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Source: IGS, ACS/Census, healthcare enrichment, uploaded analysis charts.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3333" y="801886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40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1513284"/>
            <a:ext cx="13042821" cy="102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ShelbyFirst transforms disconnected resources into a pathway for healthier, more inclusive growth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809399"/>
            <a:ext cx="510302" cy="5103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3644" y="2809399"/>
            <a:ext cx="3454718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Economically Vulnerable &amp; Health-Access Constrained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533644" y="3557230"/>
            <a:ext cx="3454718" cy="155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selected Shelby community faces overlapping disadvantage across income, transportation, preventive care, diabetes, obesity, and dental access.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7914" y="2809399"/>
            <a:ext cx="510302" cy="5103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57768" y="2809399"/>
            <a:ext cx="3454718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Practical, Community-Based Intervention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957768" y="3557230"/>
            <a:ext cx="3454718" cy="155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ShelbyFirst coordinates affordable rides, healthy food access, and trusted care connectivity — using existing infrastructure, not building new systems.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42038" y="2809399"/>
            <a:ext cx="510302" cy="5103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381893" y="2809399"/>
            <a:ext cx="296227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Built for Measurable Impact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10381893" y="3238381"/>
            <a:ext cx="3454718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initiative is built for measurable impact, not just awareness — with clear metrics, phased rollout, and blended nonprofit sustainability.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099899" y="5522000"/>
            <a:ext cx="1273671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"ShelbyFirst turns mobility, nutrition, and care access into a scalable engine for inclusive growth in Shelby County."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793790" y="5315307"/>
            <a:ext cx="22860" cy="723662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793790" y="6245662"/>
            <a:ext cx="13042821" cy="726996"/>
          </a:xfrm>
          <a:prstGeom prst="roundRect">
            <a:avLst>
              <a:gd name="adj" fmla="val 421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793790" y="6245662"/>
            <a:ext cx="4347567" cy="726996"/>
          </a:xfrm>
          <a:prstGeom prst="roundRect">
            <a:avLst>
              <a:gd name="adj" fmla="val 421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997863" y="644973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Healthier Residents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141357" y="6245662"/>
            <a:ext cx="4347567" cy="726996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5141357" y="6245662"/>
            <a:ext cx="22860" cy="726996"/>
          </a:xfrm>
          <a:prstGeom prst="roundRect">
            <a:avLst>
              <a:gd name="adj" fmla="val 133954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5345430" y="644973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Stronger Communities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9488924" y="6245662"/>
            <a:ext cx="4347567" cy="726996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9488924" y="6245662"/>
            <a:ext cx="22860" cy="726996"/>
          </a:xfrm>
          <a:prstGeom prst="roundRect">
            <a:avLst>
              <a:gd name="adj" fmla="val 133954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9692997" y="644973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More Inclusive Growth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793790" y="7179350"/>
            <a:ext cx="13042821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Source: IGS, ACS/Census, healthcare enrichment, uploaded analysis charts.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1084</Words>
  <Application>Microsoft Office PowerPoint</Application>
  <PresentationFormat>Custom</PresentationFormat>
  <Paragraphs>222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-apple-system, BlinkMacSystemFont, Segoe UI, Roboto, Helvetica Neue, Arial, sans-serif Medium</vt:lpstr>
      <vt:lpstr>Heebo</vt:lpstr>
      <vt:lpstr>Crimson Pro Semi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Kareem Weaver</dc:creator>
  <cp:lastModifiedBy>Kareem J Weaver</cp:lastModifiedBy>
  <cp:revision>5</cp:revision>
  <dcterms:created xsi:type="dcterms:W3CDTF">2026-04-29T03:30:03Z</dcterms:created>
  <dcterms:modified xsi:type="dcterms:W3CDTF">2026-04-29T03:47:05Z</dcterms:modified>
</cp:coreProperties>
</file>